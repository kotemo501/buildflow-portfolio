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23654ae3454f48" /><Relationship Type="http://schemas.openxmlformats.org/officeDocument/2006/relationships/extended-properties" Target="/docProps/app.xml" Id="Ra60e01f286094ccb" /><Relationship Type="http://schemas.openxmlformats.org/officeDocument/2006/relationships/officeDocument" Target="/ppt/presentation.xml" Id="Rbfb852702f6a49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172c1343e643eb"/>
  </p:sldMasterIdLst>
  <p:notesMasterIdLst>
    <p:notesMasterId xmlns:r="http://schemas.openxmlformats.org/officeDocument/2006/relationships" r:id="R5737285fc34f46b3"/>
  </p:notesMasterIdLst>
  <p:sldIdLst>
    <p:sldId xmlns:r="http://schemas.openxmlformats.org/officeDocument/2006/relationships" id="256" r:id="R5429758eee23434f"/>
    <p:sldId xmlns:r="http://schemas.openxmlformats.org/officeDocument/2006/relationships" id="257" r:id="Rbf1df7afe9b741b8"/>
    <p:sldId xmlns:r="http://schemas.openxmlformats.org/officeDocument/2006/relationships" id="258" r:id="R2a2a50b88ab64a86"/>
    <p:sldId xmlns:r="http://schemas.openxmlformats.org/officeDocument/2006/relationships" id="259" r:id="R5223710462d243e7"/>
    <p:sldId xmlns:r="http://schemas.openxmlformats.org/officeDocument/2006/relationships" id="260" r:id="Rf72ea089ffa049fc"/>
    <p:sldId xmlns:r="http://schemas.openxmlformats.org/officeDocument/2006/relationships" id="261" r:id="R3ceb1be657894e0e"/>
    <p:sldId xmlns:r="http://schemas.openxmlformats.org/officeDocument/2006/relationships" id="262" r:id="Rd891e49fe5e741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c2ac138c0a4f5b" /><Relationship Type="http://schemas.openxmlformats.org/officeDocument/2006/relationships/slideMaster" Target="/ppt/slideMasters/slideMaster1.xml" Id="R07172c1343e643eb" /><Relationship Type="http://schemas.openxmlformats.org/officeDocument/2006/relationships/notesMaster" Target="/ppt/notesMasters/notesMaster1.xml" Id="R5737285fc34f46b3" /><Relationship Type="http://schemas.openxmlformats.org/officeDocument/2006/relationships/presProps" Target="/ppt/presProps.xml" Id="Rdeeb85908ff34376" /><Relationship Type="http://schemas.openxmlformats.org/officeDocument/2006/relationships/tableStyles" Target="/ppt/tableStyles.xml" Id="Rbcc4e17b07984b26" /><Relationship Type="http://schemas.openxmlformats.org/officeDocument/2006/relationships/slide" Target="/ppt/slides/slide1.xml" Id="R5429758eee23434f" /><Relationship Type="http://schemas.openxmlformats.org/officeDocument/2006/relationships/slide" Target="/ppt/slides/slide2.xml" Id="Rbf1df7afe9b741b8" /><Relationship Type="http://schemas.openxmlformats.org/officeDocument/2006/relationships/slide" Target="/ppt/slides/slide3.xml" Id="R2a2a50b88ab64a86" /><Relationship Type="http://schemas.openxmlformats.org/officeDocument/2006/relationships/slide" Target="/ppt/slides/slide4.xml" Id="R5223710462d243e7" /><Relationship Type="http://schemas.openxmlformats.org/officeDocument/2006/relationships/slide" Target="/ppt/slides/slide5.xml" Id="Rf72ea089ffa049fc" /><Relationship Type="http://schemas.openxmlformats.org/officeDocument/2006/relationships/slide" Target="/ppt/slides/slide6.xml" Id="R3ceb1be657894e0e" /><Relationship Type="http://schemas.openxmlformats.org/officeDocument/2006/relationships/slide" Target="/ppt/slides/slide7.xml" Id="Rd891e49fe5e741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c1be82173b47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94a96982af4f00" /><Relationship Type="http://schemas.openxmlformats.org/officeDocument/2006/relationships/notesMaster" Target="/ppt/notesMasters/notesMaster1.xml" Id="R5af80f17e1344b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328b12aaaf4a01" /><Relationship Type="http://schemas.openxmlformats.org/officeDocument/2006/relationships/notesMaster" Target="/ppt/notesMasters/notesMaster1.xml" Id="R08256a9fec0e41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ed40bd67c346e6" /><Relationship Type="http://schemas.openxmlformats.org/officeDocument/2006/relationships/notesMaster" Target="/ppt/notesMasters/notesMaster1.xml" Id="R3aec7cb76e6045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b655f670a04c61" /><Relationship Type="http://schemas.openxmlformats.org/officeDocument/2006/relationships/notesMaster" Target="/ppt/notesMasters/notesMaster1.xml" Id="R52d3a6f4ef754c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49582d9d254349" /><Relationship Type="http://schemas.openxmlformats.org/officeDocument/2006/relationships/notesMaster" Target="/ppt/notesMasters/notesMaster1.xml" Id="R7c256a59b9c04a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d24cafb7574c3e" /><Relationship Type="http://schemas.openxmlformats.org/officeDocument/2006/relationships/notesMaster" Target="/ppt/notesMasters/notesMaster1.xml" Id="Rc4803bdf139f42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cdbd3f7f6c4909" /><Relationship Type="http://schemas.openxmlformats.org/officeDocument/2006/relationships/notesMaster" Target="/ppt/notesMasters/notesMaster1.xml" Id="R435476293ec744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[作品の前提]</a:t>
            </a:r>
          </a:p>
          <a:p xmlns:a="http://schemas.openxmlformats.org/drawingml/2006/main">
            <a:r>
              <a:t>自主制作の想定業務マニュアルです。実在企業の顧客情報・問い合わせ記録・運用実績は使用していません。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[一次対応の範囲]</a:t>
            </a:r>
          </a:p>
          <a:p xmlns:a="http://schemas.openxmlformats.org/drawingml/2006/main">
            <a:r>
              <a:t>受付、記録、対応区分、回答・引継ぎを対象にし、返金・障害原因・セキュリティ判断は対象外としています。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[受付票]</a:t>
            </a:r>
          </a:p>
          <a:p xmlns:a="http://schemas.openxmlformats.org/drawingml/2006/main">
            <a:r>
              <a:t>架空の入力例です。不要な機密情報を転記しない前提をページ下部に置いています。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[対応区分]</a:t>
            </a:r>
          </a:p>
          <a:p xmlns:a="http://schemas.openxmlformats.org/drawingml/2006/main">
            <a:r>
              <a:t>承認済みFAQと条件が一致する場合だけ回答し、それ以外は担当部署へ引き継ぐ想定フローです。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[返信]</a:t>
            </a:r>
          </a:p>
          <a:p xmlns:a="http://schemas.openxmlformats.org/drawingml/2006/main">
            <a:r>
              <a:t>受領連絡と引継ぎメモを分け、確定していない回答時刻や原因を書かない構成です。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[引継ぎ]</a:t>
            </a:r>
          </a:p>
          <a:p xmlns:a="http://schemas.openxmlformats.org/drawingml/2006/main">
            <a:r>
              <a:t>区分、例、引継ぎ先、一次対応をPowerPointのネイティブ表で実装しています。実案件では部署名とルールを差し替えます。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[完了確認]</a:t>
            </a:r>
          </a:p>
          <a:p xmlns:a="http://schemas.openxmlformats.org/drawingml/2006/main">
            <a:r>
              <a:t>受付票、返信、担当、状態、次の期限を確認し、不明点が残る場合は完了にしない構成です。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d3c8c12f74d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ee51f36ead4fd6" /><Relationship Type="http://schemas.openxmlformats.org/officeDocument/2006/relationships/slideLayout" Target="/ppt/slideLayouts/slideLayout1.xml" Id="R730ad6d4f7aa48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0ad6d4f7aa48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a5de9450e4de1" /><Relationship Type="http://schemas.openxmlformats.org/officeDocument/2006/relationships/notesSlide" Target="/ppt/notesSlides/notesSlide1.xml" Id="R645b5c4cc5f14a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fc70bec92483f" /><Relationship Type="http://schemas.openxmlformats.org/officeDocument/2006/relationships/notesSlide" Target="/ppt/notesSlides/notesSlide2.xml" Id="R23fd51888b9b40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86ba1925c4471" /><Relationship Type="http://schemas.openxmlformats.org/officeDocument/2006/relationships/notesSlide" Target="/ppt/notesSlides/notesSlide3.xml" Id="R3b725ea3c6ea4a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d888e3a1549dd" /><Relationship Type="http://schemas.openxmlformats.org/officeDocument/2006/relationships/notesSlide" Target="/ppt/notesSlides/notesSlide4.xml" Id="Rd5760322595f4c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2aab06b4d4c6c" /><Relationship Type="http://schemas.openxmlformats.org/officeDocument/2006/relationships/notesSlide" Target="/ppt/notesSlides/notesSlide5.xml" Id="R107f1ec5610e4c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5767fafd24ce2" /><Relationship Type="http://schemas.openxmlformats.org/officeDocument/2006/relationships/notesSlide" Target="/ppt/notesSlides/notesSlide6.xml" Id="Rb29954e94d8b4a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3d56d0d5a42fb" /><Relationship Type="http://schemas.openxmlformats.org/officeDocument/2006/relationships/notesSlide" Target="/ppt/notesSlides/notesSlide7.xml" Id="Ra4d4dfdaf9044f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over-rail">
            <a:extLst xmlns:a="http://schemas.openxmlformats.org/drawingml/2006/main">
              <a:ext uri="{FF2B5EF4-FFF2-40B4-BE49-F238E27FC236}">
                <a16:creationId xmlns:a16="http://schemas.microsoft.com/office/drawing/2014/main" id="{2DC5B1E9-76FC-4633-81F7-47228206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4056559-F6EA-4955-885B-22D295AA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D6A5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D6A58"/>
                </a:solidFill>
                <a:latin typeface="Hiragino Sans"/>
                <a:ea typeface="Hiragino Sans"/>
                <a:cs typeface="Hiragino Sans"/>
              </a:rPr>
              <a:t>自主制作 / 問い合わせ一次対応マニュアル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C78AE58-A485-45F2-8D33-693E633E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75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新任メンバー向け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75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問い合わせ一次対応マニュアル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BBF66B9-C3C6-436B-A2A3-4875800D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0251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0251F"/>
                </a:solidFill>
                <a:latin typeface="Hiragino Sans"/>
                <a:ea typeface="Hiragino Sans"/>
                <a:cs typeface="Hiragino Sans"/>
              </a:rPr>
              <a:t>受付、記録、対応区分、返信、担当部署への引継ぎまで</a:t>
            </a:r>
          </a:p>
        </p:txBody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FE08D722-E8CD-47B2-9C48-991663BE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85900"/>
            <a:ext cx="29527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6" name="cover-scope-title">
            <a:extLst xmlns:a="http://schemas.openxmlformats.org/drawingml/2006/main">
              <a:ext uri="{FF2B5EF4-FFF2-40B4-BE49-F238E27FC236}">
                <a16:creationId xmlns:a16="http://schemas.microsoft.com/office/drawing/2014/main" id="{D4FF006F-6A1D-4522-B049-19305D2C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90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D6A5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D6A58"/>
                </a:solidFill>
                <a:latin typeface="Hiragino Sans"/>
                <a:ea typeface="Hiragino Sans"/>
                <a:cs typeface="Hiragino Sans"/>
              </a:rPr>
              <a:t>このマニュアルの範囲</a:t>
            </a:r>
          </a:p>
        </p:txBody>
      </p:sp>
      <p:sp>
        <p:nvSpPr>
          <p:cNvPr id="7" name="cover-label-0">
            <a:extLst xmlns:a="http://schemas.openxmlformats.org/drawingml/2006/main">
              <a:ext uri="{FF2B5EF4-FFF2-40B4-BE49-F238E27FC236}">
                <a16:creationId xmlns:a16="http://schemas.microsoft.com/office/drawing/2014/main" id="{DB2F1677-8A0D-419C-A8C4-08C3212D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対象</a:t>
            </a:r>
          </a:p>
        </p:txBody>
      </p:sp>
      <p:sp>
        <p:nvSpPr>
          <p:cNvPr id="8" name="cover-value-0">
            <a:extLst xmlns:a="http://schemas.openxmlformats.org/drawingml/2006/main">
              <a:ext uri="{FF2B5EF4-FFF2-40B4-BE49-F238E27FC236}">
                <a16:creationId xmlns:a16="http://schemas.microsoft.com/office/drawing/2014/main" id="{CC41D964-D1D0-4BCA-B00F-ED95CB4F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43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新任メンバー</a:t>
            </a:r>
          </a:p>
        </p:txBody>
      </p:sp>
      <p:sp>
        <p:nvSpPr>
          <p:cNvPr id="9" name="cover-rule-0">
            <a:extLst xmlns:a="http://schemas.openxmlformats.org/drawingml/2006/main">
              <a:ext uri="{FF2B5EF4-FFF2-40B4-BE49-F238E27FC236}">
                <a16:creationId xmlns:a16="http://schemas.microsoft.com/office/drawing/2014/main" id="{EDED369A-E8F3-4FEA-959D-C3F0FF8F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051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10" name="cover-label-1">
            <a:extLst xmlns:a="http://schemas.openxmlformats.org/drawingml/2006/main">
              <a:ext uri="{FF2B5EF4-FFF2-40B4-BE49-F238E27FC236}">
                <a16:creationId xmlns:a16="http://schemas.microsoft.com/office/drawing/2014/main" id="{867D24EA-A9DD-41DA-969D-6548D6E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開始</a:t>
            </a:r>
          </a:p>
        </p:txBody>
      </p:sp>
      <p:sp>
        <p:nvSpPr>
          <p:cNvPr id="11" name="cover-value-1">
            <a:extLst xmlns:a="http://schemas.openxmlformats.org/drawingml/2006/main">
              <a:ext uri="{FF2B5EF4-FFF2-40B4-BE49-F238E27FC236}">
                <a16:creationId xmlns:a16="http://schemas.microsoft.com/office/drawing/2014/main" id="{AFCA0F60-B903-49E4-892D-4ACD7610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問い合わせを受ける</a:t>
            </a:r>
          </a:p>
        </p:txBody>
      </p:sp>
      <p:sp>
        <p:nvSpPr>
          <p:cNvPr id="12" name="cover-rule-1">
            <a:extLst xmlns:a="http://schemas.openxmlformats.org/drawingml/2006/main">
              <a:ext uri="{FF2B5EF4-FFF2-40B4-BE49-F238E27FC236}">
                <a16:creationId xmlns:a16="http://schemas.microsoft.com/office/drawing/2014/main" id="{799A9D22-12DD-4098-BD7C-F9F9A456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13" name="cover-label-2">
            <a:extLst xmlns:a="http://schemas.openxmlformats.org/drawingml/2006/main">
              <a:ext uri="{FF2B5EF4-FFF2-40B4-BE49-F238E27FC236}">
                <a16:creationId xmlns:a16="http://schemas.microsoft.com/office/drawing/2014/main" id="{5A213190-6864-4814-ABE7-1376348D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終了</a:t>
            </a:r>
          </a:p>
        </p:txBody>
      </p:sp>
      <p:sp>
        <p:nvSpPr>
          <p:cNvPr id="14" name="cover-value-2">
            <a:extLst xmlns:a="http://schemas.openxmlformats.org/drawingml/2006/main">
              <a:ext uri="{FF2B5EF4-FFF2-40B4-BE49-F238E27FC236}">
                <a16:creationId xmlns:a16="http://schemas.microsoft.com/office/drawing/2014/main" id="{B32582C0-C833-42BA-997D-C7EEFB32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24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回答または引継ぎ</a:t>
            </a:r>
          </a:p>
        </p:txBody>
      </p:sp>
      <p:sp>
        <p:nvSpPr>
          <p:cNvPr id="15" name="cover-rule-2">
            <a:extLst xmlns:a="http://schemas.openxmlformats.org/drawingml/2006/main">
              <a:ext uri="{FF2B5EF4-FFF2-40B4-BE49-F238E27FC236}">
                <a16:creationId xmlns:a16="http://schemas.microsoft.com/office/drawing/2014/main" id="{E2C9577F-D984-4B1D-A414-C1BDD734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16" name="cover-label-3">
            <a:extLst xmlns:a="http://schemas.openxmlformats.org/drawingml/2006/main">
              <a:ext uri="{FF2B5EF4-FFF2-40B4-BE49-F238E27FC236}">
                <a16:creationId xmlns:a16="http://schemas.microsoft.com/office/drawing/2014/main" id="{96DB34AF-C662-4138-BDD4-AD95B9AC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14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対象外</a:t>
            </a:r>
          </a:p>
        </p:txBody>
      </p:sp>
      <p:sp>
        <p:nvSpPr>
          <p:cNvPr id="17" name="cover-value-3">
            <a:extLst xmlns:a="http://schemas.openxmlformats.org/drawingml/2006/main">
              <a:ext uri="{FF2B5EF4-FFF2-40B4-BE49-F238E27FC236}">
                <a16:creationId xmlns:a16="http://schemas.microsoft.com/office/drawing/2014/main" id="{11AD8EB2-92F0-4045-B1C4-412D21F1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14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専門判断・障害復旧</a:t>
            </a:r>
          </a:p>
        </p:txBody>
      </p:sp>
      <p:sp>
        <p:nvSpPr>
          <p:cNvPr id="18" name="cover-note">
            <a:extLst xmlns:a="http://schemas.openxmlformats.org/drawingml/2006/main">
              <a:ext uri="{FF2B5EF4-FFF2-40B4-BE49-F238E27FC236}">
                <a16:creationId xmlns:a16="http://schemas.microsoft.com/office/drawing/2014/main" id="{3E6D2186-680D-462A-A6E4-DAE5E194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想定業務をもとに作成しています。実在企業の問い合わせ記録や運用実績は含みません。</a:t>
            </a:r>
          </a:p>
        </p:txBody>
      </p:sp>
      <p:sp>
        <p:nvSpPr>
          <p:cNvPr id="19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706089BD-862C-4615-9E3D-FE675E24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20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C29FC7E6-FEBB-4F51-B9D3-A8A9F70B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問い合わせ一次対応 / 自主制作</a:t>
            </a:r>
          </a:p>
        </p:txBody>
      </p:sp>
      <p:sp>
        <p:nvSpPr>
          <p:cNvPr id="21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69E5E850-43C0-4A2F-B83A-A47BFAF9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4093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label-2">
            <a:extLst xmlns:a="http://schemas.openxmlformats.org/drawingml/2006/main">
              <a:ext uri="{FF2B5EF4-FFF2-40B4-BE49-F238E27FC236}">
                <a16:creationId xmlns:a16="http://schemas.microsoft.com/office/drawing/2014/main" id="{048A3490-04D9-49D4-8551-8BFC10D3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02  一次対応の範囲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DE40AF3-FAAA-44AF-93B1-B8E89DA2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受け付け、記録し、回答できないものを担当部署へ渡す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6A333C7D-A887-4A71-B096-E281C89D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9352D"/>
            </a:solidFill>
            <a:prstDash val="solid"/>
          </a:ln>
        </p:spPr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E4B4D126-6783-4651-A094-D9A39866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5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BAFB8993-CFFC-41A7-B33D-04F4A5AF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問い合わせ一次対応 / 自主制作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D519D197-A9DB-43B6-971D-23873A02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p2-step-0">
            <a:extLst xmlns:a="http://schemas.openxmlformats.org/drawingml/2006/main">
              <a:ext uri="{FF2B5EF4-FFF2-40B4-BE49-F238E27FC236}">
                <a16:creationId xmlns:a16="http://schemas.microsoft.com/office/drawing/2014/main" id="{F3B33C50-6CCB-437C-96CE-20335347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0383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8" name="p2-step-head-0">
            <a:extLst xmlns:a="http://schemas.openxmlformats.org/drawingml/2006/main">
              <a:ext uri="{FF2B5EF4-FFF2-40B4-BE49-F238E27FC236}">
                <a16:creationId xmlns:a16="http://schemas.microsoft.com/office/drawing/2014/main" id="{A98CCC6B-E3F8-4D87-88CD-821D6CA7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2-step-num-0">
            <a:extLst xmlns:a="http://schemas.openxmlformats.org/drawingml/2006/main">
              <a:ext uri="{FF2B5EF4-FFF2-40B4-BE49-F238E27FC236}">
                <a16:creationId xmlns:a16="http://schemas.microsoft.com/office/drawing/2014/main" id="{4EB755B3-56C3-4986-8334-2B756A8C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0" name="p2-step-title-0">
            <a:extLst xmlns:a="http://schemas.openxmlformats.org/drawingml/2006/main">
              <a:ext uri="{FF2B5EF4-FFF2-40B4-BE49-F238E27FC236}">
                <a16:creationId xmlns:a16="http://schemas.microsoft.com/office/drawing/2014/main" id="{0E167BA8-142D-40CF-8781-4BEB45A7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431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受付</a:t>
            </a:r>
          </a:p>
        </p:txBody>
      </p:sp>
      <p:sp>
        <p:nvSpPr>
          <p:cNvPr id="11" name="p2-step-copy-0">
            <a:extLst xmlns:a="http://schemas.openxmlformats.org/drawingml/2006/main">
              <a:ext uri="{FF2B5EF4-FFF2-40B4-BE49-F238E27FC236}">
                <a16:creationId xmlns:a16="http://schemas.microsoft.com/office/drawing/2014/main" id="{773C63BA-5F57-447B-8C57-53F5B607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問い合わせ内容と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連絡先を確認</a:t>
            </a:r>
          </a:p>
        </p:txBody>
      </p:sp>
      <p:sp>
        <p:nvSpPr>
          <p:cNvPr id="12" name="p2-arrow-0-line">
            <a:extLst xmlns:a="http://schemas.openxmlformats.org/drawingml/2006/main">
              <a:ext uri="{FF2B5EF4-FFF2-40B4-BE49-F238E27FC236}">
                <a16:creationId xmlns:a16="http://schemas.microsoft.com/office/drawing/2014/main" id="{70A3D4EE-1A65-4700-AF6D-A9C1FC9B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90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CA"/>
            </a:solidFill>
            <a:prstDash val="solid"/>
          </a:ln>
        </p:spPr>
      </p:sp>
      <p:sp>
        <p:nvSpPr>
          <p:cNvPr id="13" name="p2-arrow-0-head">
            <a:extLst xmlns:a="http://schemas.openxmlformats.org/drawingml/2006/main">
              <a:ext uri="{FF2B5EF4-FFF2-40B4-BE49-F238E27FC236}">
                <a16:creationId xmlns:a16="http://schemas.microsoft.com/office/drawing/2014/main" id="{313D1629-48CB-485C-9EFF-2A43D2AC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C8D0C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C8D0CA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14" name="p2-step-1">
            <a:extLst xmlns:a="http://schemas.openxmlformats.org/drawingml/2006/main">
              <a:ext uri="{FF2B5EF4-FFF2-40B4-BE49-F238E27FC236}">
                <a16:creationId xmlns:a16="http://schemas.microsoft.com/office/drawing/2014/main" id="{36693345-DF0C-448F-A40A-3FC56865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47900"/>
            <a:ext cx="20383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15" name="p2-step-head-1">
            <a:extLst xmlns:a="http://schemas.openxmlformats.org/drawingml/2006/main">
              <a:ext uri="{FF2B5EF4-FFF2-40B4-BE49-F238E27FC236}">
                <a16:creationId xmlns:a16="http://schemas.microsoft.com/office/drawing/2014/main" id="{CD7998E6-7916-429E-B760-3488A0F2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479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2-step-num-1">
            <a:extLst xmlns:a="http://schemas.openxmlformats.org/drawingml/2006/main">
              <a:ext uri="{FF2B5EF4-FFF2-40B4-BE49-F238E27FC236}">
                <a16:creationId xmlns:a16="http://schemas.microsoft.com/office/drawing/2014/main" id="{EE0EE387-47C8-42C6-8A89-E5C4DB50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7" name="p2-step-title-1">
            <a:extLst xmlns:a="http://schemas.openxmlformats.org/drawingml/2006/main">
              <a:ext uri="{FF2B5EF4-FFF2-40B4-BE49-F238E27FC236}">
                <a16:creationId xmlns:a16="http://schemas.microsoft.com/office/drawing/2014/main" id="{21F0139F-E31E-4E7B-97D9-142D0709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431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記録</a:t>
            </a:r>
          </a:p>
        </p:txBody>
      </p:sp>
      <p:sp>
        <p:nvSpPr>
          <p:cNvPr id="18" name="p2-step-copy-1">
            <a:extLst xmlns:a="http://schemas.openxmlformats.org/drawingml/2006/main">
              <a:ext uri="{FF2B5EF4-FFF2-40B4-BE49-F238E27FC236}">
                <a16:creationId xmlns:a16="http://schemas.microsoft.com/office/drawing/2014/main" id="{4E371187-15AC-474E-9000-62C78E49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0515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必須項目を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受付票へ入力</a:t>
            </a:r>
          </a:p>
        </p:txBody>
      </p:sp>
      <p:sp>
        <p:nvSpPr>
          <p:cNvPr id="19" name="p2-arrow-1-line">
            <a:extLst xmlns:a="http://schemas.openxmlformats.org/drawingml/2006/main">
              <a:ext uri="{FF2B5EF4-FFF2-40B4-BE49-F238E27FC236}">
                <a16:creationId xmlns:a16="http://schemas.microsoft.com/office/drawing/2014/main" id="{FEF41933-13E7-4C95-A22C-C99FCDAE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90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CA"/>
            </a:solidFill>
            <a:prstDash val="solid"/>
          </a:ln>
        </p:spPr>
      </p:sp>
      <p:sp>
        <p:nvSpPr>
          <p:cNvPr id="20" name="p2-arrow-1-head">
            <a:extLst xmlns:a="http://schemas.openxmlformats.org/drawingml/2006/main">
              <a:ext uri="{FF2B5EF4-FFF2-40B4-BE49-F238E27FC236}">
                <a16:creationId xmlns:a16="http://schemas.microsoft.com/office/drawing/2014/main" id="{036FF84E-716D-4A47-9E38-F8B04BB9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289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C8D0C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C8D0CA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21" name="p2-step-2">
            <a:extLst xmlns:a="http://schemas.openxmlformats.org/drawingml/2006/main">
              <a:ext uri="{FF2B5EF4-FFF2-40B4-BE49-F238E27FC236}">
                <a16:creationId xmlns:a16="http://schemas.microsoft.com/office/drawing/2014/main" id="{CA810F80-06B8-4EE8-9322-57ECACCD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47900"/>
            <a:ext cx="20383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22" name="p2-step-head-2">
            <a:extLst xmlns:a="http://schemas.openxmlformats.org/drawingml/2006/main">
              <a:ext uri="{FF2B5EF4-FFF2-40B4-BE49-F238E27FC236}">
                <a16:creationId xmlns:a16="http://schemas.microsoft.com/office/drawing/2014/main" id="{29C88502-FE47-4877-A3B0-8B84EAAB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479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5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2-step-num-2">
            <a:extLst xmlns:a="http://schemas.openxmlformats.org/drawingml/2006/main">
              <a:ext uri="{FF2B5EF4-FFF2-40B4-BE49-F238E27FC236}">
                <a16:creationId xmlns:a16="http://schemas.microsoft.com/office/drawing/2014/main" id="{635203EC-36E5-493F-99EA-3A9DF6E3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4" name="p2-step-title-2">
            <a:extLst xmlns:a="http://schemas.openxmlformats.org/drawingml/2006/main">
              <a:ext uri="{FF2B5EF4-FFF2-40B4-BE49-F238E27FC236}">
                <a16:creationId xmlns:a16="http://schemas.microsoft.com/office/drawing/2014/main" id="{B5C23E42-B196-4943-A763-8AAEF8F7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区分</a:t>
            </a:r>
          </a:p>
        </p:txBody>
      </p:sp>
      <p:sp>
        <p:nvSpPr>
          <p:cNvPr id="25" name="p2-step-copy-2">
            <a:extLst xmlns:a="http://schemas.openxmlformats.org/drawingml/2006/main">
              <a:ext uri="{FF2B5EF4-FFF2-40B4-BE49-F238E27FC236}">
                <a16:creationId xmlns:a16="http://schemas.microsoft.com/office/drawing/2014/main" id="{FAEE7C43-757B-438B-8E4B-68A307F0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FAQ回答か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引継ぎかを判断</a:t>
            </a:r>
          </a:p>
        </p:txBody>
      </p:sp>
      <p:sp>
        <p:nvSpPr>
          <p:cNvPr id="26" name="p2-arrow-2-line">
            <a:extLst xmlns:a="http://schemas.openxmlformats.org/drawingml/2006/main">
              <a:ext uri="{FF2B5EF4-FFF2-40B4-BE49-F238E27FC236}">
                <a16:creationId xmlns:a16="http://schemas.microsoft.com/office/drawing/2014/main" id="{DA2027DD-5706-448F-BD56-92F5AA02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90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CA"/>
            </a:solidFill>
            <a:prstDash val="solid"/>
          </a:ln>
        </p:spPr>
      </p:sp>
      <p:sp>
        <p:nvSpPr>
          <p:cNvPr id="27" name="p2-arrow-2-head">
            <a:extLst xmlns:a="http://schemas.openxmlformats.org/drawingml/2006/main">
              <a:ext uri="{FF2B5EF4-FFF2-40B4-BE49-F238E27FC236}">
                <a16:creationId xmlns:a16="http://schemas.microsoft.com/office/drawing/2014/main" id="{73B36331-2134-4A69-B7AE-799F985C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C8D0C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C8D0CA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28" name="p2-step-3">
            <a:extLst xmlns:a="http://schemas.openxmlformats.org/drawingml/2006/main">
              <a:ext uri="{FF2B5EF4-FFF2-40B4-BE49-F238E27FC236}">
                <a16:creationId xmlns:a16="http://schemas.microsoft.com/office/drawing/2014/main" id="{710376CD-DB1C-4A0F-A539-8FC01226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20383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29" name="p2-step-head-3">
            <a:extLst xmlns:a="http://schemas.openxmlformats.org/drawingml/2006/main">
              <a:ext uri="{FF2B5EF4-FFF2-40B4-BE49-F238E27FC236}">
                <a16:creationId xmlns:a16="http://schemas.microsoft.com/office/drawing/2014/main" id="{1977C018-FE03-46AA-B382-B9AA65A9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2-step-num-3">
            <a:extLst xmlns:a="http://schemas.openxmlformats.org/drawingml/2006/main">
              <a:ext uri="{FF2B5EF4-FFF2-40B4-BE49-F238E27FC236}">
                <a16:creationId xmlns:a16="http://schemas.microsoft.com/office/drawing/2014/main" id="{FDB0723D-70A2-4D4E-B481-BB2F2B5E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31" name="p2-step-title-3">
            <a:extLst xmlns:a="http://schemas.openxmlformats.org/drawingml/2006/main">
              <a:ext uri="{FF2B5EF4-FFF2-40B4-BE49-F238E27FC236}">
                <a16:creationId xmlns:a16="http://schemas.microsoft.com/office/drawing/2014/main" id="{40DF0971-18DE-40FE-AEDC-E2DC6573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回答・引継ぎ</a:t>
            </a:r>
          </a:p>
        </p:txBody>
      </p:sp>
      <p:sp>
        <p:nvSpPr>
          <p:cNvPr id="32" name="p2-step-copy-3">
            <a:extLst xmlns:a="http://schemas.openxmlformats.org/drawingml/2006/main">
              <a:ext uri="{FF2B5EF4-FFF2-40B4-BE49-F238E27FC236}">
                <a16:creationId xmlns:a16="http://schemas.microsoft.com/office/drawing/2014/main" id="{1CF25DE6-5692-4FB8-91DC-AC59C634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返信し、記録を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完了へ変更</a:t>
            </a:r>
          </a:p>
        </p:txBody>
      </p:sp>
      <p:sp>
        <p:nvSpPr>
          <p:cNvPr id="33" name="p2-boundary">
            <a:extLst xmlns:a="http://schemas.openxmlformats.org/drawingml/2006/main">
              <a:ext uri="{FF2B5EF4-FFF2-40B4-BE49-F238E27FC236}">
                <a16:creationId xmlns:a16="http://schemas.microsoft.com/office/drawing/2014/main" id="{0B8E3F61-7C60-4734-B702-17BE0784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639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2-boundary-label">
            <a:extLst xmlns:a="http://schemas.openxmlformats.org/drawingml/2006/main">
              <a:ext uri="{FF2B5EF4-FFF2-40B4-BE49-F238E27FC236}">
                <a16:creationId xmlns:a16="http://schemas.microsoft.com/office/drawing/2014/main" id="{59071CCA-C76F-43B4-AC76-EBE993FF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rPr>
              <a:t>一次対応で判断しないこと</a:t>
            </a:r>
          </a:p>
        </p:txBody>
      </p:sp>
      <p:sp>
        <p:nvSpPr>
          <p:cNvPr id="35" name="p2-boundary-copy">
            <a:extLst xmlns:a="http://schemas.openxmlformats.org/drawingml/2006/main">
              <a:ext uri="{FF2B5EF4-FFF2-40B4-BE49-F238E27FC236}">
                <a16:creationId xmlns:a16="http://schemas.microsoft.com/office/drawing/2014/main" id="{34AB0411-4EBF-4A0A-90F2-A55480C3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57750"/>
            <a:ext cx="653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返金可否、障害原因、セキュリティ事故、契約変更は、受付票へ記録して担当部署へ引き継ぎます。</a:t>
            </a:r>
          </a:p>
        </p:txBody>
      </p:sp>
      <p:sp>
        <p:nvSpPr>
          <p:cNvPr id="36" name="p2-note">
            <a:extLst xmlns:a="http://schemas.openxmlformats.org/drawingml/2006/main">
              <a:ext uri="{FF2B5EF4-FFF2-40B4-BE49-F238E27FC236}">
                <a16:creationId xmlns:a16="http://schemas.microsoft.com/office/drawing/2014/main" id="{4940BBC4-9D6A-496C-843A-0DCFD588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025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0251F"/>
                </a:solidFill>
                <a:latin typeface="Hiragino Sans"/>
                <a:ea typeface="Hiragino Sans"/>
                <a:cs typeface="Hiragino Sans"/>
              </a:rPr>
              <a:t>判断に迷った場合は、回答を推測せず引継ぎへ進む。</a:t>
            </a:r>
          </a:p>
        </p:txBody>
      </p:sp>
    </p:spTree>
    <p:extLst>
      <p:ext uri="{BB962C8B-B14F-4D97-AF65-F5344CB8AC3E}">
        <p14:creationId xmlns:p14="http://schemas.microsoft.com/office/powerpoint/2010/main" val="13094260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label-3">
            <a:extLst xmlns:a="http://schemas.openxmlformats.org/drawingml/2006/main">
              <a:ext uri="{FF2B5EF4-FFF2-40B4-BE49-F238E27FC236}">
                <a16:creationId xmlns:a16="http://schemas.microsoft.com/office/drawing/2014/main" id="{D18E3C6D-8E73-4419-9053-1DC05534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03  受付票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828CDBE-95E9-41C3-A6DE-492118C7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連絡先、発生事象、環境、希望期限を一つの受付票へ記録する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55B4C308-1EFD-4FB1-A1C9-662CBAD3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9352D"/>
            </a:solidFill>
            <a:prstDash val="solid"/>
          </a:ln>
        </p:spPr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57E5DDC1-6647-42F1-B572-749565FC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5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E453AF20-AEF7-41E1-951C-7AC021AE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問い合わせ一次対応 / 自主制作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C104D6F-9734-489E-8D3C-B0DA325F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7" name="p3-sample-bg">
            <a:extLst xmlns:a="http://schemas.openxmlformats.org/drawingml/2006/main">
              <a:ext uri="{FF2B5EF4-FFF2-40B4-BE49-F238E27FC236}">
                <a16:creationId xmlns:a16="http://schemas.microsoft.com/office/drawing/2014/main" id="{96D9070E-F674-4230-91E8-56B092D2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3-sample-text">
            <a:extLst xmlns:a="http://schemas.openxmlformats.org/drawingml/2006/main">
              <a:ext uri="{FF2B5EF4-FFF2-40B4-BE49-F238E27FC236}">
                <a16:creationId xmlns:a16="http://schemas.microsoft.com/office/drawing/2014/main" id="{381BF81E-84AA-4C17-ACC2-F7583185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rPr>
              <a:t>入力例（架空）</a:t>
            </a:r>
          </a:p>
        </p:txBody>
      </p:sp>
      <p:sp>
        <p:nvSpPr>
          <p:cNvPr id="9" name="p3-form">
            <a:extLst xmlns:a="http://schemas.openxmlformats.org/drawingml/2006/main">
              <a:ext uri="{FF2B5EF4-FFF2-40B4-BE49-F238E27FC236}">
                <a16:creationId xmlns:a16="http://schemas.microsoft.com/office/drawing/2014/main" id="{306F8938-095A-4CFF-87F5-D5A49C53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2679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10" name="p3-label-0">
            <a:extLst xmlns:a="http://schemas.openxmlformats.org/drawingml/2006/main">
              <a:ext uri="{FF2B5EF4-FFF2-40B4-BE49-F238E27FC236}">
                <a16:creationId xmlns:a16="http://schemas.microsoft.com/office/drawing/2014/main" id="{4E7DC153-538E-42C9-9589-24C6C06E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受付日時</a:t>
            </a:r>
          </a:p>
        </p:txBody>
      </p:sp>
      <p:sp>
        <p:nvSpPr>
          <p:cNvPr id="11" name="p3-field-rule-0">
            <a:extLst xmlns:a="http://schemas.openxmlformats.org/drawingml/2006/main">
              <a:ext uri="{FF2B5EF4-FFF2-40B4-BE49-F238E27FC236}">
                <a16:creationId xmlns:a16="http://schemas.microsoft.com/office/drawing/2014/main" id="{F43CBE20-A904-40BC-81DF-90931520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12" name="p3-value-0">
            <a:extLst xmlns:a="http://schemas.openxmlformats.org/drawingml/2006/main">
              <a:ext uri="{FF2B5EF4-FFF2-40B4-BE49-F238E27FC236}">
                <a16:creationId xmlns:a16="http://schemas.microsoft.com/office/drawing/2014/main" id="{D009C7CD-905D-400A-AA9D-C18A61D3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本日 10:15</a:t>
            </a:r>
          </a:p>
        </p:txBody>
      </p:sp>
      <p:sp>
        <p:nvSpPr>
          <p:cNvPr id="13" name="p3-label-1">
            <a:extLst xmlns:a="http://schemas.openxmlformats.org/drawingml/2006/main">
              <a:ext uri="{FF2B5EF4-FFF2-40B4-BE49-F238E27FC236}">
                <a16:creationId xmlns:a16="http://schemas.microsoft.com/office/drawing/2014/main" id="{B6D9A575-9894-4020-8DE7-E3956284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28900"/>
            <a:ext cx="339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連絡先</a:t>
            </a:r>
          </a:p>
        </p:txBody>
      </p:sp>
      <p:sp>
        <p:nvSpPr>
          <p:cNvPr id="14" name="p3-field-rule-1">
            <a:extLst xmlns:a="http://schemas.openxmlformats.org/drawingml/2006/main">
              <a:ext uri="{FF2B5EF4-FFF2-40B4-BE49-F238E27FC236}">
                <a16:creationId xmlns:a16="http://schemas.microsoft.com/office/drawing/2014/main" id="{E08C834E-C818-425D-89B4-D90137B4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339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15" name="p3-value-1">
            <a:extLst xmlns:a="http://schemas.openxmlformats.org/drawingml/2006/main">
              <a:ext uri="{FF2B5EF4-FFF2-40B4-BE49-F238E27FC236}">
                <a16:creationId xmlns:a16="http://schemas.microsoft.com/office/drawing/2014/main" id="{3F7CC6B4-9FFD-44A8-A312-442C3999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sample@example.test</a:t>
            </a:r>
          </a:p>
        </p:txBody>
      </p:sp>
      <p:sp>
        <p:nvSpPr>
          <p:cNvPr id="16" name="p3-label-2">
            <a:extLst xmlns:a="http://schemas.openxmlformats.org/drawingml/2006/main">
              <a:ext uri="{FF2B5EF4-FFF2-40B4-BE49-F238E27FC236}">
                <a16:creationId xmlns:a16="http://schemas.microsoft.com/office/drawing/2014/main" id="{3ACC52DB-2E7B-40D3-AB72-D65F68E0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2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希望期限</a:t>
            </a:r>
          </a:p>
        </p:txBody>
      </p:sp>
      <p:sp>
        <p:nvSpPr>
          <p:cNvPr id="17" name="p3-field-rule-2">
            <a:extLst xmlns:a="http://schemas.openxmlformats.org/drawingml/2006/main">
              <a:ext uri="{FF2B5EF4-FFF2-40B4-BE49-F238E27FC236}">
                <a16:creationId xmlns:a16="http://schemas.microsoft.com/office/drawing/2014/main" id="{FBDDBA25-5D50-43A2-80B6-83AA16D3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813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18" name="p3-value-2">
            <a:extLst xmlns:a="http://schemas.openxmlformats.org/drawingml/2006/main">
              <a:ext uri="{FF2B5EF4-FFF2-40B4-BE49-F238E27FC236}">
                <a16:creationId xmlns:a16="http://schemas.microsoft.com/office/drawing/2014/main" id="{9800D149-7907-41AA-8FEC-EB6BCD18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確認後に回答</a:t>
            </a:r>
          </a:p>
        </p:txBody>
      </p:sp>
      <p:sp>
        <p:nvSpPr>
          <p:cNvPr id="19" name="p3-label-3">
            <a:extLst xmlns:a="http://schemas.openxmlformats.org/drawingml/2006/main">
              <a:ext uri="{FF2B5EF4-FFF2-40B4-BE49-F238E27FC236}">
                <a16:creationId xmlns:a16="http://schemas.microsoft.com/office/drawing/2014/main" id="{51C276CA-0191-4D51-8EA2-930DFEEF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605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件名</a:t>
            </a:r>
          </a:p>
        </p:txBody>
      </p:sp>
      <p:sp>
        <p:nvSpPr>
          <p:cNvPr id="20" name="p3-field-rule-3">
            <a:extLst xmlns:a="http://schemas.openxmlformats.org/drawingml/2006/main">
              <a:ext uri="{FF2B5EF4-FFF2-40B4-BE49-F238E27FC236}">
                <a16:creationId xmlns:a16="http://schemas.microsoft.com/office/drawing/2014/main" id="{F7BC55C8-1295-4110-8BA2-1F74B918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605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21" name="p3-value-3">
            <a:extLst xmlns:a="http://schemas.openxmlformats.org/drawingml/2006/main">
              <a:ext uri="{FF2B5EF4-FFF2-40B4-BE49-F238E27FC236}">
                <a16:creationId xmlns:a16="http://schemas.microsoft.com/office/drawing/2014/main" id="{BE2F0CBA-B2BA-496C-947A-F0A2526B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605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管理画面へログインできない</a:t>
            </a:r>
          </a:p>
        </p:txBody>
      </p:sp>
      <p:sp>
        <p:nvSpPr>
          <p:cNvPr id="22" name="p3-label-4">
            <a:extLst xmlns:a="http://schemas.openxmlformats.org/drawingml/2006/main">
              <a:ext uri="{FF2B5EF4-FFF2-40B4-BE49-F238E27FC236}">
                <a16:creationId xmlns:a16="http://schemas.microsoft.com/office/drawing/2014/main" id="{4AF148F3-8DAB-47B9-9004-6642A94C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利用環境</a:t>
            </a:r>
          </a:p>
        </p:txBody>
      </p:sp>
      <p:sp>
        <p:nvSpPr>
          <p:cNvPr id="23" name="p3-field-rule-4">
            <a:extLst xmlns:a="http://schemas.openxmlformats.org/drawingml/2006/main">
              <a:ext uri="{FF2B5EF4-FFF2-40B4-BE49-F238E27FC236}">
                <a16:creationId xmlns:a16="http://schemas.microsoft.com/office/drawing/2014/main" id="{159C5224-DE15-4835-9310-0E649DD4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386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24" name="p3-value-4">
            <a:extLst xmlns:a="http://schemas.openxmlformats.org/drawingml/2006/main">
              <a:ext uri="{FF2B5EF4-FFF2-40B4-BE49-F238E27FC236}">
                <a16:creationId xmlns:a16="http://schemas.microsoft.com/office/drawing/2014/main" id="{D8C44196-B692-40BB-A0C1-71934085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33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PC / Chrome / 社内ネットワーク</a:t>
            </a:r>
          </a:p>
        </p:txBody>
      </p:sp>
      <p:sp>
        <p:nvSpPr>
          <p:cNvPr id="25" name="p3-label-5">
            <a:extLst xmlns:a="http://schemas.openxmlformats.org/drawingml/2006/main">
              <a:ext uri="{FF2B5EF4-FFF2-40B4-BE49-F238E27FC236}">
                <a16:creationId xmlns:a16="http://schemas.microsoft.com/office/drawing/2014/main" id="{865C510B-66BC-4FC5-AB71-4F7B1FF2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969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発生事象</a:t>
            </a:r>
          </a:p>
        </p:txBody>
      </p:sp>
      <p:sp>
        <p:nvSpPr>
          <p:cNvPr id="26" name="p3-field-rule-5">
            <a:extLst xmlns:a="http://schemas.openxmlformats.org/drawingml/2006/main">
              <a:ext uri="{FF2B5EF4-FFF2-40B4-BE49-F238E27FC236}">
                <a16:creationId xmlns:a16="http://schemas.microsoft.com/office/drawing/2014/main" id="{7E3471F7-DEBC-41A8-9416-61273FB3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27" name="p3-value-5">
            <a:extLst xmlns:a="http://schemas.openxmlformats.org/drawingml/2006/main">
              <a:ext uri="{FF2B5EF4-FFF2-40B4-BE49-F238E27FC236}">
                <a16:creationId xmlns:a16="http://schemas.microsoft.com/office/drawing/2014/main" id="{32548C00-64C2-43C8-BB3B-811EAE5D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69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ログイン画面でエラーが表示され、先へ進めない。画面のスクリーンショットあり。</a:t>
            </a:r>
          </a:p>
        </p:txBody>
      </p:sp>
      <p:sp>
        <p:nvSpPr>
          <p:cNvPr id="28" name="p3-note">
            <a:extLst xmlns:a="http://schemas.openxmlformats.org/drawingml/2006/main">
              <a:ext uri="{FF2B5EF4-FFF2-40B4-BE49-F238E27FC236}">
                <a16:creationId xmlns:a16="http://schemas.microsoft.com/office/drawing/2014/main" id="{C368A8B3-721A-4333-9D0F-705ACD1A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26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9E473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E473A"/>
                </a:solidFill>
                <a:latin typeface="Hiragino Sans"/>
                <a:ea typeface="Hiragino Sans"/>
                <a:cs typeface="Hiragino Sans"/>
              </a:rPr>
              <a:t>パスワード、決済情報、本人確認書類など、不要な機密情報は受付票へ転記しません。</a:t>
            </a:r>
          </a:p>
        </p:txBody>
      </p:sp>
    </p:spTree>
    <p:extLst>
      <p:ext uri="{BB962C8B-B14F-4D97-AF65-F5344CB8AC3E}">
        <p14:creationId xmlns:p14="http://schemas.microsoft.com/office/powerpoint/2010/main" val="1617750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label-4">
            <a:extLst xmlns:a="http://schemas.openxmlformats.org/drawingml/2006/main">
              <a:ext uri="{FF2B5EF4-FFF2-40B4-BE49-F238E27FC236}">
                <a16:creationId xmlns:a16="http://schemas.microsoft.com/office/drawing/2014/main" id="{A879102E-9E6C-475A-AB1D-9E29E3BC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04  対応区分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F204F95-1C59-43FE-B997-34F9904D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FAQで回答できるか、専門部署への引継ぎが必要かを分ける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14AECB79-1C76-4798-9A49-1E192829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9352D"/>
            </a:solidFill>
            <a:prstDash val="solid"/>
          </a:ln>
        </p:spPr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CE230029-0839-4002-9827-D32BE532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5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6A6C3C83-434F-4F11-ADE3-A4A6A65B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問い合わせ一次対応 / 自主制作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EC993446-F0B6-4D2B-8D87-6313313B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7" name="p4-start">
            <a:extLst xmlns:a="http://schemas.openxmlformats.org/drawingml/2006/main">
              <a:ext uri="{FF2B5EF4-FFF2-40B4-BE49-F238E27FC236}">
                <a16:creationId xmlns:a16="http://schemas.microsoft.com/office/drawing/2014/main" id="{590DF113-3435-4539-A39C-6619BEB9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4-start-text">
            <a:extLst xmlns:a="http://schemas.openxmlformats.org/drawingml/2006/main">
              <a:ext uri="{FF2B5EF4-FFF2-40B4-BE49-F238E27FC236}">
                <a16:creationId xmlns:a16="http://schemas.microsoft.com/office/drawing/2014/main" id="{1FE618E0-7E78-4127-BC70-CDA4A022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受付票の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必須項目がそろった</a:t>
            </a:r>
          </a:p>
        </p:txBody>
      </p:sp>
      <p:sp>
        <p:nvSpPr>
          <p:cNvPr id="9" name="p4-a1-line">
            <a:extLst xmlns:a="http://schemas.openxmlformats.org/drawingml/2006/main">
              <a:ext uri="{FF2B5EF4-FFF2-40B4-BE49-F238E27FC236}">
                <a16:creationId xmlns:a16="http://schemas.microsoft.com/office/drawing/2014/main" id="{C30841BA-A52F-4AAD-BE14-5FA3682A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718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CA"/>
            </a:solidFill>
            <a:prstDash val="solid"/>
          </a:ln>
        </p:spPr>
      </p:sp>
      <p:sp>
        <p:nvSpPr>
          <p:cNvPr id="10" name="p4-a1-head">
            <a:extLst xmlns:a="http://schemas.openxmlformats.org/drawingml/2006/main">
              <a:ext uri="{FF2B5EF4-FFF2-40B4-BE49-F238E27FC236}">
                <a16:creationId xmlns:a16="http://schemas.microsoft.com/office/drawing/2014/main" id="{BB88E9EC-2FFC-48A4-A783-2B7485EC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C8D0C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C8D0CA"/>
                </a:solidFill>
                <a:latin typeface="Hiragino Sans"/>
                <a:ea typeface="Hiragino Sans"/>
                <a:cs typeface="Hiragino Sans"/>
              </a:rPr>
              <a:t>›</a:t>
            </a:r>
          </a:p>
        </p:txBody>
      </p:sp>
      <p:sp>
        <p:nvSpPr>
          <p:cNvPr id="11" name="p4-q1">
            <a:extLst xmlns:a="http://schemas.openxmlformats.org/drawingml/2006/main">
              <a:ext uri="{FF2B5EF4-FFF2-40B4-BE49-F238E27FC236}">
                <a16:creationId xmlns:a16="http://schemas.microsoft.com/office/drawing/2014/main" id="{AB049C04-997E-4C9F-A23D-1E0CB055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2133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A58"/>
            </a:solidFill>
            <a:prstDash val="solid"/>
          </a:ln>
        </p:spPr>
      </p:sp>
      <p:sp>
        <p:nvSpPr>
          <p:cNvPr id="12" name="p4-q1-text">
            <a:extLst xmlns:a="http://schemas.openxmlformats.org/drawingml/2006/main">
              <a:ext uri="{FF2B5EF4-FFF2-40B4-BE49-F238E27FC236}">
                <a16:creationId xmlns:a16="http://schemas.microsoft.com/office/drawing/2014/main" id="{DBD3532D-BACB-49B9-91FA-D1B386FC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承認済みFAQに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同じ事象がある？</a:t>
            </a:r>
          </a:p>
        </p:txBody>
      </p:sp>
      <p:sp>
        <p:nvSpPr>
          <p:cNvPr id="13" name="p4-yes">
            <a:extLst xmlns:a="http://schemas.openxmlformats.org/drawingml/2006/main">
              <a:ext uri="{FF2B5EF4-FFF2-40B4-BE49-F238E27FC236}">
                <a16:creationId xmlns:a16="http://schemas.microsoft.com/office/drawing/2014/main" id="{35F363D4-221A-4AD1-B0D2-4B8F1659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2D6A5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D6A58"/>
                </a:solidFill>
                <a:latin typeface="Hiragino Sans"/>
                <a:ea typeface="Hiragino Sans"/>
                <a:cs typeface="Hiragino Sans"/>
              </a:rPr>
              <a:t>ある</a:t>
            </a:r>
          </a:p>
        </p:txBody>
      </p:sp>
      <p:sp>
        <p:nvSpPr>
          <p:cNvPr id="14" name="p4-yes-line-a">
            <a:extLst xmlns:a="http://schemas.openxmlformats.org/drawingml/2006/main">
              <a:ext uri="{FF2B5EF4-FFF2-40B4-BE49-F238E27FC236}">
                <a16:creationId xmlns:a16="http://schemas.microsoft.com/office/drawing/2014/main" id="{3410593F-FC9D-4862-8B7F-C870ED2E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575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A58"/>
            </a:solidFill>
            <a:prstDash val="solid"/>
          </a:ln>
        </p:spPr>
      </p:sp>
      <p:sp>
        <p:nvSpPr>
          <p:cNvPr id="15" name="p4-yes-line-b">
            <a:extLst xmlns:a="http://schemas.openxmlformats.org/drawingml/2006/main">
              <a:ext uri="{FF2B5EF4-FFF2-40B4-BE49-F238E27FC236}">
                <a16:creationId xmlns:a16="http://schemas.microsoft.com/office/drawing/2014/main" id="{67A1D87B-93B1-41A4-BC19-D3F09314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A58"/>
            </a:solidFill>
            <a:prstDash val="solid"/>
          </a:ln>
        </p:spPr>
      </p:sp>
      <p:sp>
        <p:nvSpPr>
          <p:cNvPr id="16" name="p4-yes-line-c">
            <a:extLst xmlns:a="http://schemas.openxmlformats.org/drawingml/2006/main">
              <a:ext uri="{FF2B5EF4-FFF2-40B4-BE49-F238E27FC236}">
                <a16:creationId xmlns:a16="http://schemas.microsoft.com/office/drawing/2014/main" id="{E825C8B1-489E-4F38-B6B2-88E4842E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A58"/>
            </a:solidFill>
            <a:prstDash val="solid"/>
          </a:ln>
        </p:spPr>
      </p:sp>
      <p:sp>
        <p:nvSpPr>
          <p:cNvPr id="17" name="p4-answer">
            <a:extLst xmlns:a="http://schemas.openxmlformats.org/drawingml/2006/main">
              <a:ext uri="{FF2B5EF4-FFF2-40B4-BE49-F238E27FC236}">
                <a16:creationId xmlns:a16="http://schemas.microsoft.com/office/drawing/2014/main" id="{0F8F997B-8C69-4185-ABDA-03B784D7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09750"/>
            <a:ext cx="2038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5"/>
          </a:solidFill>
          <a:ln xmlns:a="http://schemas.openxmlformats.org/drawingml/2006/main" w="9525">
            <a:solidFill>
              <a:srgbClr val="2D6A58"/>
            </a:solidFill>
            <a:prstDash val="solid"/>
          </a:ln>
        </p:spPr>
      </p:sp>
      <p:sp>
        <p:nvSpPr>
          <p:cNvPr id="18" name="p4-answer-text">
            <a:extLst xmlns:a="http://schemas.openxmlformats.org/drawingml/2006/main">
              <a:ext uri="{FF2B5EF4-FFF2-40B4-BE49-F238E27FC236}">
                <a16:creationId xmlns:a16="http://schemas.microsoft.com/office/drawing/2014/main" id="{DA75DC36-77D4-4591-9E50-4E9091AE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383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2D6A58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D6A58"/>
                </a:solidFill>
                <a:latin typeface="Hiragino Sans"/>
                <a:ea typeface="Hiragino Sans"/>
                <a:cs typeface="Hiragino Sans"/>
              </a:rPr>
              <a:t>FAQを引用して回答</a:t>
            </a:r>
          </a:p>
        </p:txBody>
      </p:sp>
      <p:sp>
        <p:nvSpPr>
          <p:cNvPr id="19" name="p4-no">
            <a:extLst xmlns:a="http://schemas.openxmlformats.org/drawingml/2006/main">
              <a:ext uri="{FF2B5EF4-FFF2-40B4-BE49-F238E27FC236}">
                <a16:creationId xmlns:a16="http://schemas.microsoft.com/office/drawing/2014/main" id="{C194802E-DD1D-4DF0-A2AB-1189BEA5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243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rPr>
              <a:t>ない</a:t>
            </a:r>
          </a:p>
        </p:txBody>
      </p:sp>
      <p:sp>
        <p:nvSpPr>
          <p:cNvPr id="20" name="p4-no-line-a">
            <a:extLst xmlns:a="http://schemas.openxmlformats.org/drawingml/2006/main">
              <a:ext uri="{FF2B5EF4-FFF2-40B4-BE49-F238E27FC236}">
                <a16:creationId xmlns:a16="http://schemas.microsoft.com/office/drawing/2014/main" id="{C441061B-7DB2-4005-AB30-0BBDA99E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718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8500E"/>
            </a:solidFill>
            <a:prstDash val="solid"/>
          </a:ln>
        </p:spPr>
      </p:sp>
      <p:sp>
        <p:nvSpPr>
          <p:cNvPr id="21" name="p4-no-line-b">
            <a:extLst xmlns:a="http://schemas.openxmlformats.org/drawingml/2006/main">
              <a:ext uri="{FF2B5EF4-FFF2-40B4-BE49-F238E27FC236}">
                <a16:creationId xmlns:a16="http://schemas.microsoft.com/office/drawing/2014/main" id="{64B18D5A-6933-4684-B1FB-63D23804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8500E"/>
            </a:solidFill>
            <a:prstDash val="solid"/>
          </a:ln>
        </p:spPr>
      </p:sp>
      <p:sp>
        <p:nvSpPr>
          <p:cNvPr id="22" name="p4-no-line-c">
            <a:extLst xmlns:a="http://schemas.openxmlformats.org/drawingml/2006/main">
              <a:ext uri="{FF2B5EF4-FFF2-40B4-BE49-F238E27FC236}">
                <a16:creationId xmlns:a16="http://schemas.microsoft.com/office/drawing/2014/main" id="{0E36E188-C961-47EB-8FFC-B9CBAB02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8500E"/>
            </a:solidFill>
            <a:prstDash val="solid"/>
          </a:ln>
        </p:spPr>
      </p:sp>
      <p:sp>
        <p:nvSpPr>
          <p:cNvPr id="23" name="p4-escalate">
            <a:extLst xmlns:a="http://schemas.openxmlformats.org/drawingml/2006/main">
              <a:ext uri="{FF2B5EF4-FFF2-40B4-BE49-F238E27FC236}">
                <a16:creationId xmlns:a16="http://schemas.microsoft.com/office/drawing/2014/main" id="{DED93EBC-98A8-4676-B75F-B074FB9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2038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2"/>
          </a:solidFill>
          <a:ln xmlns:a="http://schemas.openxmlformats.org/drawingml/2006/main" w="9525">
            <a:solidFill>
              <a:srgbClr val="98500E"/>
            </a:solidFill>
            <a:prstDash val="solid"/>
          </a:ln>
        </p:spPr>
      </p:sp>
      <p:sp>
        <p:nvSpPr>
          <p:cNvPr id="24" name="p4-escalate-text">
            <a:extLst xmlns:a="http://schemas.openxmlformats.org/drawingml/2006/main">
              <a:ext uri="{FF2B5EF4-FFF2-40B4-BE49-F238E27FC236}">
                <a16:creationId xmlns:a16="http://schemas.microsoft.com/office/drawing/2014/main" id="{F87D948D-98BB-45B6-972B-8785AF2F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243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rPr>
              <a:t>担当部署へ引き継ぐ</a:t>
            </a:r>
          </a:p>
        </p:txBody>
      </p:sp>
      <p:sp>
        <p:nvSpPr>
          <p:cNvPr id="25" name="p4-join-top">
            <a:extLst xmlns:a="http://schemas.openxmlformats.org/drawingml/2006/main">
              <a:ext uri="{FF2B5EF4-FFF2-40B4-BE49-F238E27FC236}">
                <a16:creationId xmlns:a16="http://schemas.microsoft.com/office/drawing/2014/main" id="{A695541E-5A6C-4C03-8484-491DA8A8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02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CA"/>
            </a:solidFill>
            <a:prstDash val="solid"/>
          </a:ln>
        </p:spPr>
      </p:sp>
      <p:sp>
        <p:nvSpPr>
          <p:cNvPr id="26" name="p4-join-bottom">
            <a:extLst xmlns:a="http://schemas.openxmlformats.org/drawingml/2006/main">
              <a:ext uri="{FF2B5EF4-FFF2-40B4-BE49-F238E27FC236}">
                <a16:creationId xmlns:a16="http://schemas.microsoft.com/office/drawing/2014/main" id="{E5E72EB5-CE6C-4F71-B167-FBB4615A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8622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CA"/>
            </a:solidFill>
            <a:prstDash val="solid"/>
          </a:ln>
        </p:spPr>
      </p:sp>
      <p:sp>
        <p:nvSpPr>
          <p:cNvPr id="27" name="p4-join-vertical">
            <a:extLst xmlns:a="http://schemas.openxmlformats.org/drawingml/2006/main">
              <a:ext uri="{FF2B5EF4-FFF2-40B4-BE49-F238E27FC236}">
                <a16:creationId xmlns:a16="http://schemas.microsoft.com/office/drawing/2014/main" id="{C2A0F335-E236-436B-AF52-7F554EF8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00275"/>
            <a:ext cx="0" cy="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CA"/>
            </a:solidFill>
            <a:prstDash val="solid"/>
          </a:ln>
        </p:spPr>
      </p:sp>
      <p:sp>
        <p:nvSpPr>
          <p:cNvPr id="28" name="p4-join-out">
            <a:extLst xmlns:a="http://schemas.openxmlformats.org/drawingml/2006/main">
              <a:ext uri="{FF2B5EF4-FFF2-40B4-BE49-F238E27FC236}">
                <a16:creationId xmlns:a16="http://schemas.microsoft.com/office/drawing/2014/main" id="{7BE94B6B-8E1C-47F0-8FD2-6634FB31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718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CA"/>
            </a:solidFill>
            <a:prstDash val="solid"/>
          </a:ln>
        </p:spPr>
      </p:sp>
      <p:sp>
        <p:nvSpPr>
          <p:cNvPr id="29" name="p4-end">
            <a:extLst xmlns:a="http://schemas.openxmlformats.org/drawingml/2006/main">
              <a:ext uri="{FF2B5EF4-FFF2-40B4-BE49-F238E27FC236}">
                <a16:creationId xmlns:a16="http://schemas.microsoft.com/office/drawing/2014/main" id="{1FB17BBC-CA50-4346-A080-B56EFDC8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81300"/>
            <a:ext cx="1104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C6371"/>
            </a:solidFill>
            <a:prstDash val="solid"/>
          </a:ln>
        </p:spPr>
      </p:sp>
      <p:sp>
        <p:nvSpPr>
          <p:cNvPr id="30" name="p4-end-text">
            <a:extLst xmlns:a="http://schemas.openxmlformats.org/drawingml/2006/main">
              <a:ext uri="{FF2B5EF4-FFF2-40B4-BE49-F238E27FC236}">
                <a16:creationId xmlns:a16="http://schemas.microsoft.com/office/drawing/2014/main" id="{7EE2F88A-E66B-4C29-974F-030922CD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099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C637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3C6371"/>
                </a:solidFill>
                <a:latin typeface="Hiragino Sans"/>
                <a:ea typeface="Hiragino Sans"/>
                <a:cs typeface="Hiragino Sans"/>
              </a:rPr>
              <a:t>記録を更新</a:t>
            </a:r>
          </a:p>
        </p:txBody>
      </p:sp>
      <p:sp>
        <p:nvSpPr>
          <p:cNvPr id="31" name="p4-warning">
            <a:extLst xmlns:a="http://schemas.openxmlformats.org/drawingml/2006/main">
              <a:ext uri="{FF2B5EF4-FFF2-40B4-BE49-F238E27FC236}">
                <a16:creationId xmlns:a16="http://schemas.microsoft.com/office/drawing/2014/main" id="{36E112D7-1CE5-444F-AAB2-8F6F5CBB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9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4-warning-text">
            <a:extLst xmlns:a="http://schemas.openxmlformats.org/drawingml/2006/main">
              <a:ext uri="{FF2B5EF4-FFF2-40B4-BE49-F238E27FC236}">
                <a16:creationId xmlns:a16="http://schemas.microsoft.com/office/drawing/2014/main" id="{0EEF72EF-6EAA-4DF3-A6F4-0FE6650B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7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9E473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E473A"/>
                </a:solidFill>
                <a:latin typeface="Hiragino Sans"/>
                <a:ea typeface="Hiragino Sans"/>
                <a:cs typeface="Hiragino Sans"/>
              </a:rPr>
              <a:t>FAQに近い内容があっても、条件が違う場合は自己判断で置き換えず、担当部署へ確認します。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075296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label-5">
            <a:extLst xmlns:a="http://schemas.openxmlformats.org/drawingml/2006/main">
              <a:ext uri="{FF2B5EF4-FFF2-40B4-BE49-F238E27FC236}">
                <a16:creationId xmlns:a16="http://schemas.microsoft.com/office/drawing/2014/main" id="{EBAD621D-BEDB-45C2-8AA9-EFF5E0F4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05  返信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45A66CB-8828-43C2-B2ED-C3C393A3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受領連絡と引継ぎ連絡を分け、確定していないことを書かない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75054711-FF8C-4476-B2E4-6C1A686A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9352D"/>
            </a:solidFill>
            <a:prstDash val="solid"/>
          </a:ln>
        </p:spPr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7C7F6E5A-693B-463A-98AF-C1331C06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5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AC617D29-C67F-4FB5-BAD6-D35E8578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問い合わせ一次対応 / 自主制作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615B00A9-F56F-45F3-8DBC-0D35D944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7" name="p5-left-title">
            <a:extLst xmlns:a="http://schemas.openxmlformats.org/drawingml/2006/main">
              <a:ext uri="{FF2B5EF4-FFF2-40B4-BE49-F238E27FC236}">
                <a16:creationId xmlns:a16="http://schemas.microsoft.com/office/drawing/2014/main" id="{42B47C2B-1269-4E0A-924C-C4691A50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D6A5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D6A58"/>
                </a:solidFill>
                <a:latin typeface="Hiragino Sans"/>
                <a:ea typeface="Hiragino Sans"/>
                <a:cs typeface="Hiragino Sans"/>
              </a:rPr>
              <a:t>受領したとき</a:t>
            </a:r>
          </a:p>
        </p:txBody>
      </p:sp>
      <p:sp>
        <p:nvSpPr>
          <p:cNvPr id="8" name="p5-left">
            <a:extLst xmlns:a="http://schemas.openxmlformats.org/drawingml/2006/main">
              <a:ext uri="{FF2B5EF4-FFF2-40B4-BE49-F238E27FC236}">
                <a16:creationId xmlns:a16="http://schemas.microsoft.com/office/drawing/2014/main" id="{A39AE8AF-F6E7-42CA-BC95-4D69B035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8387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9" name="p5-left-tag-bg">
            <a:extLst xmlns:a="http://schemas.openxmlformats.org/drawingml/2006/main">
              <a:ext uri="{FF2B5EF4-FFF2-40B4-BE49-F238E27FC236}">
                <a16:creationId xmlns:a16="http://schemas.microsoft.com/office/drawing/2014/main" id="{6E73257E-D45D-4B1D-BAC4-DA8460BD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5-left-tag-text">
            <a:extLst xmlns:a="http://schemas.openxmlformats.org/drawingml/2006/main">
              <a:ext uri="{FF2B5EF4-FFF2-40B4-BE49-F238E27FC236}">
                <a16:creationId xmlns:a16="http://schemas.microsoft.com/office/drawing/2014/main" id="{88A6826D-0784-44E6-857D-F68A8356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D6A5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D6A58"/>
                </a:solidFill>
                <a:latin typeface="Hiragino Sans"/>
                <a:ea typeface="Hiragino Sans"/>
                <a:cs typeface="Hiragino Sans"/>
              </a:rPr>
              <a:t>受領連絡</a:t>
            </a:r>
          </a:p>
        </p:txBody>
      </p:sp>
      <p:sp>
        <p:nvSpPr>
          <p:cNvPr id="11" name="p5-left-body">
            <a:extLst xmlns:a="http://schemas.openxmlformats.org/drawingml/2006/main">
              <a:ext uri="{FF2B5EF4-FFF2-40B4-BE49-F238E27FC236}">
                <a16:creationId xmlns:a16="http://schemas.microsoft.com/office/drawing/2014/main" id="{6A493EE0-C876-41F4-97FA-03E36C67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42291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{{お名前}} 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お問い合わせを受け付けました。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内容を確認し、担当から改めてご連絡します。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受付番号：{{受付番号}}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件名：{{件名}}</a:t>
            </a:r>
          </a:p>
        </p:txBody>
      </p:sp>
      <p:sp>
        <p:nvSpPr>
          <p:cNvPr id="12" name="p5-left-note">
            <a:extLst xmlns:a="http://schemas.openxmlformats.org/drawingml/2006/main">
              <a:ext uri="{FF2B5EF4-FFF2-40B4-BE49-F238E27FC236}">
                <a16:creationId xmlns:a16="http://schemas.microsoft.com/office/drawing/2014/main" id="{1A8F4CC9-CF3E-4B4F-AE8C-52EBEC72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回答時刻は、担当部署と合意した案内がある場合のみ記載。</a:t>
            </a:r>
          </a:p>
        </p:txBody>
      </p:sp>
      <p:sp>
        <p:nvSpPr>
          <p:cNvPr id="13" name="p5-right-title">
            <a:extLst xmlns:a="http://schemas.openxmlformats.org/drawingml/2006/main">
              <a:ext uri="{FF2B5EF4-FFF2-40B4-BE49-F238E27FC236}">
                <a16:creationId xmlns:a16="http://schemas.microsoft.com/office/drawing/2014/main" id="{C7D4D63B-07BB-4176-BD42-02AEE2E1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rPr>
              <a:t>担当部署へ渡すとき</a:t>
            </a:r>
          </a:p>
        </p:txBody>
      </p:sp>
      <p:sp>
        <p:nvSpPr>
          <p:cNvPr id="14" name="p5-right">
            <a:extLst xmlns:a="http://schemas.openxmlformats.org/drawingml/2006/main">
              <a:ext uri="{FF2B5EF4-FFF2-40B4-BE49-F238E27FC236}">
                <a16:creationId xmlns:a16="http://schemas.microsoft.com/office/drawing/2014/main" id="{3377B19C-D744-446D-B927-662C03AA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62200"/>
            <a:ext cx="4953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15" name="p5-right-tag-bg">
            <a:extLst xmlns:a="http://schemas.openxmlformats.org/drawingml/2006/main">
              <a:ext uri="{FF2B5EF4-FFF2-40B4-BE49-F238E27FC236}">
                <a16:creationId xmlns:a16="http://schemas.microsoft.com/office/drawing/2014/main" id="{B4E0A30F-3A59-4B64-A730-33B5EAEF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5-right-tag-text">
            <a:extLst xmlns:a="http://schemas.openxmlformats.org/drawingml/2006/main">
              <a:ext uri="{FF2B5EF4-FFF2-40B4-BE49-F238E27FC236}">
                <a16:creationId xmlns:a16="http://schemas.microsoft.com/office/drawing/2014/main" id="{509270DE-099C-46FA-9E99-77202388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rPr>
              <a:t>引継ぎメモ</a:t>
            </a:r>
          </a:p>
        </p:txBody>
      </p:sp>
      <p:sp>
        <p:nvSpPr>
          <p:cNvPr id="17" name="p5-right-body">
            <a:extLst xmlns:a="http://schemas.openxmlformats.org/drawingml/2006/main">
              <a:ext uri="{FF2B5EF4-FFF2-40B4-BE49-F238E27FC236}">
                <a16:creationId xmlns:a16="http://schemas.microsoft.com/office/drawing/2014/main" id="{F551951E-C376-4204-985B-96D3F584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43434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受付番号：{{受付番号}}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問い合わせ：{{要約}}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発生環境：{{環境}}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確認済み：{{確認したFAQ・手順}}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添付：{{有無}}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希望期限：{{期限または未確認}}</a:t>
            </a:r>
          </a:p>
        </p:txBody>
      </p:sp>
      <p:sp>
        <p:nvSpPr>
          <p:cNvPr id="18" name="p5-right-note">
            <a:extLst xmlns:a="http://schemas.openxmlformats.org/drawingml/2006/main">
              <a:ext uri="{FF2B5EF4-FFF2-40B4-BE49-F238E27FC236}">
                <a16:creationId xmlns:a16="http://schemas.microsoft.com/office/drawing/2014/main" id="{C195B79B-DE8C-459A-B8D8-9DE008EF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244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原文を省略しすぎず、確認した事実と未確認事項を分ける。</a:t>
            </a:r>
          </a:p>
        </p:txBody>
      </p:sp>
    </p:spTree>
    <p:extLst>
      <p:ext uri="{BB962C8B-B14F-4D97-AF65-F5344CB8AC3E}">
        <p14:creationId xmlns:p14="http://schemas.microsoft.com/office/powerpoint/2010/main" val="576252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bel-6">
            <a:extLst xmlns:a="http://schemas.openxmlformats.org/drawingml/2006/main">
              <a:ext uri="{FF2B5EF4-FFF2-40B4-BE49-F238E27FC236}">
                <a16:creationId xmlns:a16="http://schemas.microsoft.com/office/drawing/2014/main" id="{6DFC0422-F7B4-433F-B197-60256195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06  引継ぎ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E311386-7899-42DA-91F9-AF12B438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内容に応じて担当部署と一次対応を変える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5F3AC1E9-CC93-42E7-95BF-DA188C4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9352D"/>
            </a:solidFill>
            <a:prstDash val="solid"/>
          </a:ln>
        </p:spPr>
      </p:sp>
      <p:sp>
        <p:nvSpPr>
          <p:cNvPr id="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50964364-331F-4C77-9D5D-28AE8E73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5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1EF8CD4A-10BB-4E0C-B363-B7E9188F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問い合わせ一次対応 / 自主制作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CAC3FBEA-479B-4E55-A6C3-B66FA410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7" name="p6-sample-bg">
            <a:extLst xmlns:a="http://schemas.openxmlformats.org/drawingml/2006/main">
              <a:ext uri="{FF2B5EF4-FFF2-40B4-BE49-F238E27FC236}">
                <a16:creationId xmlns:a16="http://schemas.microsoft.com/office/drawing/2014/main" id="{5DF8E3DA-619B-4C28-9DE4-AC993C44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6-sample-text">
            <a:extLst xmlns:a="http://schemas.openxmlformats.org/drawingml/2006/main">
              <a:ext uri="{FF2B5EF4-FFF2-40B4-BE49-F238E27FC236}">
                <a16:creationId xmlns:a16="http://schemas.microsoft.com/office/drawing/2014/main" id="{CCD6FAFB-5273-481F-952C-9AF57321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8500E"/>
                </a:solidFill>
                <a:latin typeface="Hiragino Sans"/>
                <a:ea typeface="Hiragino Sans"/>
                <a:cs typeface="Hiragino Sans"/>
              </a:rPr>
              <a:t>想定ルール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400300"/>
          <a:ext xmlns:a="http://schemas.openxmlformats.org/drawingml/2006/main" cx="102489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429000"/>
                <a:gridCol w="2095500"/>
                <a:gridCol w="2724150"/>
              </a:tblGrid>
              <a:tr h="590550">
                <a:tc>
                  <a:txBody>
                    <a:bodyPr lIns="114300" tIns="76200" rIns="114300" bIns="76200"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区分</a:t>
                      </a:r>
                    </a:p>
                  </a:txBody>
                  <a:tcPr marL="91440" marR="91440" marT="45720" marB="45720" anchor="ctr">
                    <a:solidFill>
                      <a:srgbClr val="19352D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例</a:t>
                      </a:r>
                    </a:p>
                  </a:txBody>
                  <a:tcPr marL="91440" marR="91440" marT="45720" marB="45720" anchor="ctr">
                    <a:solidFill>
                      <a:srgbClr val="19352D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引継ぎ先</a:t>
                      </a:r>
                    </a:p>
                  </a:txBody>
                  <a:tcPr marL="91440" marR="91440" marT="45720" marB="45720" anchor="ctr">
                    <a:solidFill>
                      <a:srgbClr val="19352D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一次対応で行うこと</a:t>
                      </a:r>
                    </a:p>
                  </a:txBody>
                  <a:tcPr marL="91440" marR="91440" marT="45720" marB="45720" anchor="ctr">
                    <a:solidFill>
                      <a:srgbClr val="19352D"/>
                    </a:solidFill>
                  </a:tcPr>
                </a:tc>
              </a:tr>
              <a:tr h="590550">
                <a:tc>
                  <a:txBody>
                    <a:bodyPr lIns="114300" tIns="76200" rIns="114300" bIns="76200"/>
                    <a:lstStyle/>
                    <a:p>
                      <a:r>
                        <a:rPr sz="1050" b="1">
                          <a:solidFill>
                            <a:srgbClr val="2D6A58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ログイン・権限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0">
                          <a:solidFill>
                            <a:srgbClr val="1935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ログイン不可、画面が見えない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0">
                          <a:solidFill>
                            <a:srgbClr val="1935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管理担当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0">
                          <a:solidFill>
                            <a:srgbClr val="1935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環境と表示内容を記録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76200" rIns="114300" bIns="76200"/>
                    <a:lstStyle/>
                    <a:p>
                      <a:r>
                        <a:rPr sz="1050" b="1">
                          <a:solidFill>
                            <a:srgbClr val="2D6A58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契約・請求</a:t>
                      </a:r>
                    </a:p>
                  </a:txBody>
                  <a:tcPr marL="91440" marR="91440" marT="45720" marB="45720" anchor="ctr">
                    <a:solidFill>
                      <a:srgbClr val="E4ECE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0">
                          <a:solidFill>
                            <a:srgbClr val="1935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契約変更、請求内容の確認</a:t>
                      </a:r>
                    </a:p>
                  </a:txBody>
                  <a:tcPr marL="91440" marR="91440" marT="45720" marB="45720" anchor="ctr">
                    <a:solidFill>
                      <a:srgbClr val="E4ECE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0">
                          <a:solidFill>
                            <a:srgbClr val="1935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契約担当</a:t>
                      </a:r>
                    </a:p>
                  </a:txBody>
                  <a:tcPr marL="91440" marR="91440" marT="45720" marB="45720" anchor="ctr">
                    <a:solidFill>
                      <a:srgbClr val="E4ECE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0">
                          <a:solidFill>
                            <a:srgbClr val="1935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受付のみ。金額を回答しない</a:t>
                      </a:r>
                    </a:p>
                  </a:txBody>
                  <a:tcPr marL="91440" marR="91440" marT="45720" marB="45720" anchor="ctr">
                    <a:solidFill>
                      <a:srgbClr val="E4ECE5"/>
                    </a:solidFill>
                  </a:tcPr>
                </a:tc>
              </a:tr>
              <a:tr h="590550">
                <a:tc>
                  <a:txBody>
                    <a:bodyPr lIns="114300" tIns="76200" rIns="114300" bIns="76200"/>
                    <a:lstStyle/>
                    <a:p>
                      <a:r>
                        <a:rPr sz="1050" b="1">
                          <a:solidFill>
                            <a:srgbClr val="2D6A58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障害の疑い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0">
                          <a:solidFill>
                            <a:srgbClr val="1935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複数利用者で同じ不具合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0">
                          <a:solidFill>
                            <a:srgbClr val="1935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運用担当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0">
                          <a:solidFill>
                            <a:srgbClr val="1935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発生時刻と影響範囲を記録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76200" rIns="114300" bIns="76200"/>
                    <a:lstStyle/>
                    <a:p>
                      <a:r>
                        <a:rPr sz="1050" b="1">
                          <a:solidFill>
                            <a:srgbClr val="9E473A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セキュリティ</a:t>
                      </a:r>
                    </a:p>
                  </a:txBody>
                  <a:tcPr marL="91440" marR="91440" marT="45720" marB="45720" anchor="ctr">
                    <a:solidFill>
                      <a:srgbClr val="E4ECE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0">
                          <a:solidFill>
                            <a:srgbClr val="1935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不審なアクセス、情報の誤送信</a:t>
                      </a:r>
                    </a:p>
                  </a:txBody>
                  <a:tcPr marL="91440" marR="91440" marT="45720" marB="45720" anchor="ctr">
                    <a:solidFill>
                      <a:srgbClr val="E4ECE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0">
                          <a:solidFill>
                            <a:srgbClr val="1935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指定窓口</a:t>
                      </a:r>
                    </a:p>
                  </a:txBody>
                  <a:tcPr marL="91440" marR="91440" marT="45720" marB="45720" anchor="ctr">
                    <a:solidFill>
                      <a:srgbClr val="E4ECE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975" b="0">
                          <a:solidFill>
                            <a:srgbClr val="19352D"/>
                          </a:solidFill>
                          <a:latin typeface="Hiragino Sans"/>
                          <a:ea typeface="Hiragino Sans"/>
                          <a:cs typeface="Hiragino Sans"/>
                        </a:rPr>
                        <a:t>転送せず、緊急手順に従う</a:t>
                      </a:r>
                    </a:p>
                  </a:txBody>
                  <a:tcPr marL="91440" marR="91440" marT="45720" marB="45720" anchor="ctr">
                    <a:solidFill>
                      <a:srgbClr val="E4ECE5"/>
                    </a:solidFill>
                  </a:tcPr>
                </a:tc>
              </a:tr>
            </a:tbl>
          </a:graphicData>
        </a:graphic>
      </p:graphicFrame>
      <p:sp>
        <p:nvSpPr>
          <p:cNvPr id="10" name="p6-note">
            <a:extLst xmlns:a="http://schemas.openxmlformats.org/drawingml/2006/main">
              <a:ext uri="{FF2B5EF4-FFF2-40B4-BE49-F238E27FC236}">
                <a16:creationId xmlns:a16="http://schemas.microsoft.com/office/drawing/2014/main" id="{B9E19BF3-99CE-4E2D-B4B0-E737DCDE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24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実案件では、部署名・連絡方法・優先度・受付時間を支給ルールに合わせて差し替えます。</a:t>
            </a:r>
          </a:p>
        </p:txBody>
      </p:sp>
    </p:spTree>
    <p:extLst>
      <p:ext uri="{BB962C8B-B14F-4D97-AF65-F5344CB8AC3E}">
        <p14:creationId xmlns:p14="http://schemas.microsoft.com/office/powerpoint/2010/main" val="13378225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label-7">
            <a:extLst xmlns:a="http://schemas.openxmlformats.org/drawingml/2006/main">
              <a:ext uri="{FF2B5EF4-FFF2-40B4-BE49-F238E27FC236}">
                <a16:creationId xmlns:a16="http://schemas.microsoft.com/office/drawing/2014/main" id="{5BA3DBF1-4F2E-4F20-B364-5D508542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07  完了確認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3E3C193A-C6CA-429C-9026-39303BD5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受付票、返信、担当者、状態を確認してから完了へ変更する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4DE4965B-73C3-491D-807B-1E3B118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9352D"/>
            </a:solidFill>
            <a:prstDash val="solid"/>
          </a:ln>
        </p:spPr>
      </p:sp>
      <p:sp>
        <p:nvSpPr>
          <p:cNvPr id="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26458FAB-DAA3-46A7-A17D-6CB0444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5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440EF49F-2E6F-4724-8FA0-86CC1EB5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問い合わせ一次対応 / 自主制作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9F55446A-AA7B-4B8D-8CA2-559843DB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055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26E68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7" name="p7-check-0">
            <a:extLst xmlns:a="http://schemas.openxmlformats.org/drawingml/2006/main">
              <a:ext uri="{FF2B5EF4-FFF2-40B4-BE49-F238E27FC236}">
                <a16:creationId xmlns:a16="http://schemas.microsoft.com/office/drawing/2014/main" id="{B67C434A-20E8-42D3-9D4D-C3AE23A9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7-check-mark-0">
            <a:extLst xmlns:a="http://schemas.openxmlformats.org/drawingml/2006/main">
              <a:ext uri="{FF2B5EF4-FFF2-40B4-BE49-F238E27FC236}">
                <a16:creationId xmlns:a16="http://schemas.microsoft.com/office/drawing/2014/main" id="{78AA068F-5E58-4D23-A73C-74E6978B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9" name="p7-label-0">
            <a:extLst xmlns:a="http://schemas.openxmlformats.org/drawingml/2006/main">
              <a:ext uri="{FF2B5EF4-FFF2-40B4-BE49-F238E27FC236}">
                <a16:creationId xmlns:a16="http://schemas.microsoft.com/office/drawing/2014/main" id="{880DF148-055C-4E1C-9CF1-26F58442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受付票</a:t>
            </a:r>
          </a:p>
        </p:txBody>
      </p:sp>
      <p:sp>
        <p:nvSpPr>
          <p:cNvPr id="10" name="p7-value-0">
            <a:extLst xmlns:a="http://schemas.openxmlformats.org/drawingml/2006/main">
              <a:ext uri="{FF2B5EF4-FFF2-40B4-BE49-F238E27FC236}">
                <a16:creationId xmlns:a16="http://schemas.microsoft.com/office/drawing/2014/main" id="{B579E9C2-8A3D-406A-8061-F039633C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連絡先・件名・発生事象・環境が記録されている</a:t>
            </a:r>
          </a:p>
        </p:txBody>
      </p:sp>
      <p:sp>
        <p:nvSpPr>
          <p:cNvPr id="11" name="p7-rule-0">
            <a:extLst xmlns:a="http://schemas.openxmlformats.org/drawingml/2006/main">
              <a:ext uri="{FF2B5EF4-FFF2-40B4-BE49-F238E27FC236}">
                <a16:creationId xmlns:a16="http://schemas.microsoft.com/office/drawing/2014/main" id="{831C4E51-E9C1-40B3-B1C3-A5E766FA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90800"/>
            <a:ext cx="925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12" name="p7-check-1">
            <a:extLst xmlns:a="http://schemas.openxmlformats.org/drawingml/2006/main">
              <a:ext uri="{FF2B5EF4-FFF2-40B4-BE49-F238E27FC236}">
                <a16:creationId xmlns:a16="http://schemas.microsoft.com/office/drawing/2014/main" id="{FB7BE550-B32A-4721-B390-10A84A23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7-check-mark-1">
            <a:extLst xmlns:a="http://schemas.openxmlformats.org/drawingml/2006/main">
              <a:ext uri="{FF2B5EF4-FFF2-40B4-BE49-F238E27FC236}">
                <a16:creationId xmlns:a16="http://schemas.microsoft.com/office/drawing/2014/main" id="{327CD44E-0854-4318-81AD-770E7618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4" name="p7-label-1">
            <a:extLst xmlns:a="http://schemas.openxmlformats.org/drawingml/2006/main">
              <a:ext uri="{FF2B5EF4-FFF2-40B4-BE49-F238E27FC236}">
                <a16:creationId xmlns:a16="http://schemas.microsoft.com/office/drawing/2014/main" id="{BFB4A86B-B8D2-40D1-83D4-FA741C25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返信</a:t>
            </a:r>
          </a:p>
        </p:txBody>
      </p:sp>
      <p:sp>
        <p:nvSpPr>
          <p:cNvPr id="15" name="p7-value-1">
            <a:extLst xmlns:a="http://schemas.openxmlformats.org/drawingml/2006/main">
              <a:ext uri="{FF2B5EF4-FFF2-40B4-BE49-F238E27FC236}">
                <a16:creationId xmlns:a16="http://schemas.microsoft.com/office/drawing/2014/main" id="{0CE54D6A-8462-4D66-A222-FFF5C8A6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0035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受領または回答の連絡を送っている</a:t>
            </a:r>
          </a:p>
        </p:txBody>
      </p:sp>
      <p:sp>
        <p:nvSpPr>
          <p:cNvPr id="16" name="p7-rule-1">
            <a:extLst xmlns:a="http://schemas.openxmlformats.org/drawingml/2006/main">
              <a:ext uri="{FF2B5EF4-FFF2-40B4-BE49-F238E27FC236}">
                <a16:creationId xmlns:a16="http://schemas.microsoft.com/office/drawing/2014/main" id="{02E1E084-AF6D-49F5-82D9-9A4C70D1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925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17" name="p7-check-2">
            <a:extLst xmlns:a="http://schemas.openxmlformats.org/drawingml/2006/main">
              <a:ext uri="{FF2B5EF4-FFF2-40B4-BE49-F238E27FC236}">
                <a16:creationId xmlns:a16="http://schemas.microsoft.com/office/drawing/2014/main" id="{319D9CE7-567C-4F78-A423-351CD111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-check-mark-2">
            <a:extLst xmlns:a="http://schemas.openxmlformats.org/drawingml/2006/main">
              <a:ext uri="{FF2B5EF4-FFF2-40B4-BE49-F238E27FC236}">
                <a16:creationId xmlns:a16="http://schemas.microsoft.com/office/drawing/2014/main" id="{C8E75DEC-2AF0-4B2F-8DB5-EDC187CB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9" name="p7-label-2">
            <a:extLst xmlns:a="http://schemas.openxmlformats.org/drawingml/2006/main">
              <a:ext uri="{FF2B5EF4-FFF2-40B4-BE49-F238E27FC236}">
                <a16:creationId xmlns:a16="http://schemas.microsoft.com/office/drawing/2014/main" id="{C4AA6462-FCE8-4F3A-87EA-40D3B20B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担当</a:t>
            </a:r>
          </a:p>
        </p:txBody>
      </p:sp>
      <p:sp>
        <p:nvSpPr>
          <p:cNvPr id="20" name="p7-value-2">
            <a:extLst xmlns:a="http://schemas.openxmlformats.org/drawingml/2006/main">
              <a:ext uri="{FF2B5EF4-FFF2-40B4-BE49-F238E27FC236}">
                <a16:creationId xmlns:a16="http://schemas.microsoft.com/office/drawing/2014/main" id="{C5B4ECB7-AE14-402C-92D4-A1CF51F9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0520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引継ぎが必要な場合、担当部署と担当者が入っている</a:t>
            </a:r>
          </a:p>
        </p:txBody>
      </p:sp>
      <p:sp>
        <p:nvSpPr>
          <p:cNvPr id="21" name="p7-rule-2">
            <a:extLst xmlns:a="http://schemas.openxmlformats.org/drawingml/2006/main">
              <a:ext uri="{FF2B5EF4-FFF2-40B4-BE49-F238E27FC236}">
                <a16:creationId xmlns:a16="http://schemas.microsoft.com/office/drawing/2014/main" id="{294CED6E-AE1E-4AF3-8682-B6AC8ED0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925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22" name="p7-check-3">
            <a:extLst xmlns:a="http://schemas.openxmlformats.org/drawingml/2006/main">
              <a:ext uri="{FF2B5EF4-FFF2-40B4-BE49-F238E27FC236}">
                <a16:creationId xmlns:a16="http://schemas.microsoft.com/office/drawing/2014/main" id="{75F1CB16-0F13-49FF-8AB3-D3F9C0B9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7-check-mark-3">
            <a:extLst xmlns:a="http://schemas.openxmlformats.org/drawingml/2006/main">
              <a:ext uri="{FF2B5EF4-FFF2-40B4-BE49-F238E27FC236}">
                <a16:creationId xmlns:a16="http://schemas.microsoft.com/office/drawing/2014/main" id="{54F93C67-4D2B-48B7-98D3-E7D15E1D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4" name="p7-label-3">
            <a:extLst xmlns:a="http://schemas.openxmlformats.org/drawingml/2006/main">
              <a:ext uri="{FF2B5EF4-FFF2-40B4-BE49-F238E27FC236}">
                <a16:creationId xmlns:a16="http://schemas.microsoft.com/office/drawing/2014/main" id="{2B23057F-3021-4F35-9FF0-0D1430FD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状態</a:t>
            </a:r>
          </a:p>
        </p:txBody>
      </p:sp>
      <p:sp>
        <p:nvSpPr>
          <p:cNvPr id="25" name="p7-value-3">
            <a:extLst xmlns:a="http://schemas.openxmlformats.org/drawingml/2006/main">
              <a:ext uri="{FF2B5EF4-FFF2-40B4-BE49-F238E27FC236}">
                <a16:creationId xmlns:a16="http://schemas.microsoft.com/office/drawing/2014/main" id="{78A764C9-C290-4ED2-A25D-4AA46165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1005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未対応・確認中・回答済みのいずれかになっている</a:t>
            </a:r>
          </a:p>
        </p:txBody>
      </p:sp>
      <p:sp>
        <p:nvSpPr>
          <p:cNvPr id="26" name="p7-rule-3">
            <a:extLst xmlns:a="http://schemas.openxmlformats.org/drawingml/2006/main">
              <a:ext uri="{FF2B5EF4-FFF2-40B4-BE49-F238E27FC236}">
                <a16:creationId xmlns:a16="http://schemas.microsoft.com/office/drawing/2014/main" id="{AC837240-BD65-42C5-A912-FEE07E49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05350"/>
            <a:ext cx="925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CA"/>
            </a:solidFill>
            <a:prstDash val="solid"/>
          </a:ln>
        </p:spPr>
      </p:sp>
      <p:sp>
        <p:nvSpPr>
          <p:cNvPr id="27" name="p7-check-4">
            <a:extLst xmlns:a="http://schemas.openxmlformats.org/drawingml/2006/main">
              <a:ext uri="{FF2B5EF4-FFF2-40B4-BE49-F238E27FC236}">
                <a16:creationId xmlns:a16="http://schemas.microsoft.com/office/drawing/2014/main" id="{B74DB60C-DA75-4C44-95E2-0BB14015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5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7-check-mark-4">
            <a:extLst xmlns:a="http://schemas.openxmlformats.org/drawingml/2006/main">
              <a:ext uri="{FF2B5EF4-FFF2-40B4-BE49-F238E27FC236}">
                <a16:creationId xmlns:a16="http://schemas.microsoft.com/office/drawing/2014/main" id="{1D0924AD-F540-4FCA-8D8A-DB5FB03F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9" name="p7-label-4">
            <a:extLst xmlns:a="http://schemas.openxmlformats.org/drawingml/2006/main">
              <a:ext uri="{FF2B5EF4-FFF2-40B4-BE49-F238E27FC236}">
                <a16:creationId xmlns:a16="http://schemas.microsoft.com/office/drawing/2014/main" id="{CCC917EC-D9F7-427A-821A-E4691DA8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期限</a:t>
            </a:r>
          </a:p>
        </p:txBody>
      </p:sp>
      <p:sp>
        <p:nvSpPr>
          <p:cNvPr id="30" name="p7-value-4">
            <a:extLst xmlns:a="http://schemas.openxmlformats.org/drawingml/2006/main">
              <a:ext uri="{FF2B5EF4-FFF2-40B4-BE49-F238E27FC236}">
                <a16:creationId xmlns:a16="http://schemas.microsoft.com/office/drawing/2014/main" id="{A0A49796-F620-48CC-8C62-880BC941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1490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9352D"/>
                </a:solidFill>
                <a:latin typeface="Hiragino Sans"/>
                <a:ea typeface="Hiragino Sans"/>
                <a:cs typeface="Hiragino Sans"/>
              </a:rPr>
              <a:t>次の確認がある場合、確認日または担当が分かる</a:t>
            </a:r>
          </a:p>
        </p:txBody>
      </p:sp>
      <p:sp>
        <p:nvSpPr>
          <p:cNvPr id="31" name="p7-bottom">
            <a:extLst xmlns:a="http://schemas.openxmlformats.org/drawingml/2006/main">
              <a:ext uri="{FF2B5EF4-FFF2-40B4-BE49-F238E27FC236}">
                <a16:creationId xmlns:a16="http://schemas.microsoft.com/office/drawing/2014/main" id="{7756603F-8315-4DAD-A6F5-7817F24A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7-bottom-text">
            <a:extLst xmlns:a="http://schemas.openxmlformats.org/drawingml/2006/main">
              <a:ext uri="{FF2B5EF4-FFF2-40B4-BE49-F238E27FC236}">
                <a16:creationId xmlns:a16="http://schemas.microsoft.com/office/drawing/2014/main" id="{7D3BACBE-2B07-4DFE-AD7E-4AC00868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39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025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0251F"/>
                </a:solidFill>
                <a:latin typeface="Hiragino Sans"/>
                <a:ea typeface="Hiragino Sans"/>
                <a:cs typeface="Hiragino Sans"/>
              </a:rPr>
              <a:t>不明点が残る場合は完了にせず、次に確認する担当と時点を記録します。</a:t>
            </a:r>
          </a:p>
        </p:txBody>
      </p:sp>
    </p:spTree>
    <p:extLst>
      <p:ext uri="{BB962C8B-B14F-4D97-AF65-F5344CB8AC3E}">
        <p14:creationId xmlns:p14="http://schemas.microsoft.com/office/powerpoint/2010/main" val="1922919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PowerPoint-compatible PPTX exporter</Application>
  <PresentationFormat>Converted Presentation</PresentationFormat>
  <Slides>0</Slides>
  <Notes>0</Notes>
  <HiddenSlides>0</HiddenSlides>
  <SharedDoc>false</SharedDoc>
  <DocSecurity>0</DocSecurity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Portfolio sample</dc:creator>
  <cp:lastModifiedBy>Portfolio sample</cp:lastModifiedBy>
  <dc:title>問い合わせ一次対応マニュアル</dc:title>
  <dcterms:created xsi:type="dcterms:W3CDTF">2026-08-12T02:52:43.6810000Z</dcterms:created>
  <dcterms:modified xsi:type="dcterms:W3CDTF">2026-08-12T02:52:43.6810000Z</dcterms:modified>
  <dc:subject>新任メンバー向け一次対応の自主制作業務マニュアル</dc:subject>
  <cp:category>Portfolio sample</cp:category>
  <cp:keywords>自主制作,PowerPoint,業務マニュアル,問い合わせ対応,カスタマーサポート</cp:keywords>
  <dc:description>受付・記録・対応区分・返信・引継ぎを扱う自主制作ポートフォリオ。実案件・顧客記録・運用実績ではありません。</dc:description>
</cp:coreProperties>
</file>