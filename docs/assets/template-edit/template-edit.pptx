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b6f39aafdc40fc" /><Relationship Type="http://schemas.openxmlformats.org/officeDocument/2006/relationships/extended-properties" Target="/docProps/app.xml" Id="Rd666df2cdbfc4e43" /><Relationship Type="http://schemas.openxmlformats.org/officeDocument/2006/relationships/officeDocument" Target="/ppt/presentation.xml" Id="R4ee693d0cb0d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52af392f14ab6"/>
  </p:sldMasterIdLst>
  <p:notesMasterIdLst>
    <p:notesMasterId xmlns:r="http://schemas.openxmlformats.org/officeDocument/2006/relationships" r:id="R8e7e310e53fc421e"/>
  </p:notesMasterIdLst>
  <p:sldIdLst>
    <p:sldId xmlns:r="http://schemas.openxmlformats.org/officeDocument/2006/relationships" id="256" r:id="Rcdac9100663049fc"/>
    <p:sldId xmlns:r="http://schemas.openxmlformats.org/officeDocument/2006/relationships" id="257" r:id="R2169a5058f8d4d05"/>
    <p:sldId xmlns:r="http://schemas.openxmlformats.org/officeDocument/2006/relationships" id="258" r:id="Ree667b844da4454b"/>
    <p:sldId xmlns:r="http://schemas.openxmlformats.org/officeDocument/2006/relationships" id="259" r:id="R9678d6e6c3b54b9e"/>
    <p:sldId xmlns:r="http://schemas.openxmlformats.org/officeDocument/2006/relationships" id="260" r:id="R20a491c49a0e4340"/>
    <p:sldId xmlns:r="http://schemas.openxmlformats.org/officeDocument/2006/relationships" id="261" r:id="R8382f6c77862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a6d177e58434a" /><Relationship Type="http://schemas.openxmlformats.org/officeDocument/2006/relationships/slideMaster" Target="/ppt/slideMasters/slideMaster1.xml" Id="R61352af392f14ab6" /><Relationship Type="http://schemas.openxmlformats.org/officeDocument/2006/relationships/notesMaster" Target="/ppt/notesMasters/notesMaster1.xml" Id="R8e7e310e53fc421e" /><Relationship Type="http://schemas.openxmlformats.org/officeDocument/2006/relationships/presProps" Target="/ppt/presProps.xml" Id="Rd7d9ca7732ef4bc5" /><Relationship Type="http://schemas.openxmlformats.org/officeDocument/2006/relationships/tableStyles" Target="/ppt/tableStyles.xml" Id="Rb6a3bc803b5d4b98" /><Relationship Type="http://schemas.openxmlformats.org/officeDocument/2006/relationships/slide" Target="/ppt/slides/slide1.xml" Id="Rcdac9100663049fc" /><Relationship Type="http://schemas.openxmlformats.org/officeDocument/2006/relationships/slide" Target="/ppt/slides/slide2.xml" Id="R2169a5058f8d4d05" /><Relationship Type="http://schemas.openxmlformats.org/officeDocument/2006/relationships/slide" Target="/ppt/slides/slide3.xml" Id="Ree667b844da4454b" /><Relationship Type="http://schemas.openxmlformats.org/officeDocument/2006/relationships/slide" Target="/ppt/slides/slide4.xml" Id="R9678d6e6c3b54b9e" /><Relationship Type="http://schemas.openxmlformats.org/officeDocument/2006/relationships/slide" Target="/ppt/slides/slide5.xml" Id="R20a491c49a0e4340" /><Relationship Type="http://schemas.openxmlformats.org/officeDocument/2006/relationships/slide" Target="/ppt/slides/slide6.xml" Id="R8382f6c77862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b4b9c53f441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12f89f0d44c6e" /><Relationship Type="http://schemas.openxmlformats.org/officeDocument/2006/relationships/notesMaster" Target="/ppt/notesMasters/notesMaster1.xml" Id="R5995317b1170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4e8887ae74f86" /><Relationship Type="http://schemas.openxmlformats.org/officeDocument/2006/relationships/notesMaster" Target="/ppt/notesMasters/notesMaster1.xml" Id="Raf097ba258a0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47d4928dfb4c57" /><Relationship Type="http://schemas.openxmlformats.org/officeDocument/2006/relationships/notesMaster" Target="/ppt/notesMasters/notesMaster1.xml" Id="Rab387358c81e4e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24312188d745a4" /><Relationship Type="http://schemas.openxmlformats.org/officeDocument/2006/relationships/notesMaster" Target="/ppt/notesMasters/notesMaster1.xml" Id="R4629ce4db6684e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b2af7a213242ff" /><Relationship Type="http://schemas.openxmlformats.org/officeDocument/2006/relationships/notesMaster" Target="/ppt/notesMasters/notesMaster1.xml" Id="R379b37d2e0374c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a744a43e74c0c" /><Relationship Type="http://schemas.openxmlformats.org/officeDocument/2006/relationships/notesMaster" Target="/ppt/notesMasters/notesMaster1.xml" Id="R62fcc478067c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[作品の前提]</a:t>
            </a:r>
          </a:p>
          <a:p xmlns:a="http://schemas.openxmlformats.org/drawingml/2006/main">
            <a:r>
              <a:t>自主制作。想定テンプレートと原稿を自作し、PowerPoint原稿の整形前後を示しています。顧客資料・企業ロゴ・外部画像は使用していません。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[想定素材]</a:t>
            </a:r>
          </a:p>
          <a:p xmlns:a="http://schemas.openxmlformats.org/drawingml/2006/main">
            <a:r>
              <a:t>左は本作品用に作った想定テンプレート、右は想定原稿です。実在PPTXのマスターやテーマを読み込んだページではありません。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[編集前]</a:t>
            </a:r>
          </a:p>
          <a:p xmlns:a="http://schemas.openxmlformats.org/drawingml/2006/main">
            <a:r>
              <a:t>行動・相談先・完了条件を一段落へ置いた状態を、比較用のBeforeとして作成しました。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[編集後]</a:t>
            </a:r>
          </a:p>
          <a:p xmlns:a="http://schemas.openxmlformats.org/drawingml/2006/main">
            <a:r>
              <a:t>同じ内容を行動・相談先・完了条件に分け、想定テンプレートの色・ヘッダー・ページ番号は維持しました。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[表の比較]</a:t>
            </a:r>
          </a:p>
          <a:p xmlns:a="http://schemas.openxmlformats.org/drawingml/2006/main">
            <a:r>
              <a:t>BeforeとAfterはどちらもPowerPointのネイティブ表です。列幅、行、セル文言を編集できます。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[確認範囲]</a:t>
            </a:r>
          </a:p>
          <a:p xmlns:a="http://schemas.openxmlformats.org/drawingml/2006/main">
            <a:r>
              <a:t>PPTX構造、生成PNG、画像ベースPDFを確認しました。Windows PowerPointでのフォント置換と、実在PPTXのマスター保持は未確認です。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7e634bbaf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2466d61174429d" /><Relationship Type="http://schemas.openxmlformats.org/officeDocument/2006/relationships/slideLayout" Target="/ppt/slideLayouts/slideLayout1.xml" Id="R5208dc513874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8dc513874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aff7038a4dd7" /><Relationship Type="http://schemas.openxmlformats.org/officeDocument/2006/relationships/notesSlide" Target="/ppt/notesSlides/notesSlide1.xml" Id="R242efd75c6ce43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fa46fcb704bd2" /><Relationship Type="http://schemas.openxmlformats.org/officeDocument/2006/relationships/notesSlide" Target="/ppt/notesSlides/notesSlide2.xml" Id="R1cc917add1024d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3d7e0b6214b43" /><Relationship Type="http://schemas.openxmlformats.org/officeDocument/2006/relationships/notesSlide" Target="/ppt/notesSlides/notesSlide3.xml" Id="Rc5591ad267ad48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6a75dbf7f484a" /><Relationship Type="http://schemas.openxmlformats.org/officeDocument/2006/relationships/notesSlide" Target="/ppt/notesSlides/notesSlide4.xml" Id="R0b920cf3ce8c42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1f9637d4147ca" /><Relationship Type="http://schemas.openxmlformats.org/officeDocument/2006/relationships/notesSlide" Target="/ppt/notesSlides/notesSlide5.xml" Id="R1034031d232c42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9df7017574625" /><Relationship Type="http://schemas.openxmlformats.org/officeDocument/2006/relationships/notesSlide" Target="/ppt/notesSlides/notesSlide6.xml" Id="R572d6d9bd1eb4c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rail">
            <a:extLst xmlns:a="http://schemas.openxmlformats.org/drawingml/2006/main">
              <a:ext uri="{FF2B5EF4-FFF2-40B4-BE49-F238E27FC236}">
                <a16:creationId xmlns:a16="http://schemas.microsoft.com/office/drawing/2014/main" id="{29245AD0-C7E5-4FA5-94C5-D341DBC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F6A4B95-3C56-40CD-8CD3-72338C4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自主制作 / PowerPoint原稿の整形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3C30D26-154F-4CE4-9022-ABE75A05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PowerPoint原稿の整形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Before / After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E00B4B-407E-4467-93ED-BF98B86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3C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73C31"/>
                </a:solidFill>
                <a:latin typeface="Hiragino Sans"/>
                <a:ea typeface="Hiragino Sans"/>
                <a:cs typeface="Hiragino Sans"/>
              </a:rPr>
              <a:t>想定テンプレートと原稿を自作し、整形前後を比較したサンプル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25646049-18F0-43CC-8F30-7439E55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57300"/>
            <a:ext cx="31623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6" name="cover-meta-title">
            <a:extLst xmlns:a="http://schemas.openxmlformats.org/drawingml/2006/main">
              <a:ext uri="{FF2B5EF4-FFF2-40B4-BE49-F238E27FC236}">
                <a16:creationId xmlns:a16="http://schemas.microsoft.com/office/drawing/2014/main" id="{5AD85496-43FE-4355-B55F-3DEF69A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この作品で再現した依頼</a:t>
            </a:r>
          </a:p>
        </p:txBody>
      </p:sp>
      <p:sp>
        <p:nvSpPr>
          <p:cNvPr id="7" name="cover-meta-label-0">
            <a:extLst xmlns:a="http://schemas.openxmlformats.org/drawingml/2006/main">
              <a:ext uri="{FF2B5EF4-FFF2-40B4-BE49-F238E27FC236}">
                <a16:creationId xmlns:a16="http://schemas.microsoft.com/office/drawing/2014/main" id="{E139663C-D695-436B-9030-C6FE183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素材</a:t>
            </a:r>
          </a:p>
        </p:txBody>
      </p:sp>
      <p:sp>
        <p:nvSpPr>
          <p:cNvPr id="8" name="cover-meta-value-0">
            <a:extLst xmlns:a="http://schemas.openxmlformats.org/drawingml/2006/main">
              <a:ext uri="{FF2B5EF4-FFF2-40B4-BE49-F238E27FC236}">
                <a16:creationId xmlns:a16="http://schemas.microsoft.com/office/drawing/2014/main" id="{1CBFAB23-AA50-4C8A-A338-7427BC5F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想定テンプレートと原稿</a:t>
            </a:r>
          </a:p>
        </p:txBody>
      </p:sp>
      <p:sp>
        <p:nvSpPr>
          <p:cNvPr id="9" name="cover-meta-rule-0">
            <a:extLst xmlns:a="http://schemas.openxmlformats.org/drawingml/2006/main">
              <a:ext uri="{FF2B5EF4-FFF2-40B4-BE49-F238E27FC236}">
                <a16:creationId xmlns:a16="http://schemas.microsoft.com/office/drawing/2014/main" id="{01A583B6-CBE1-4E87-87D8-AC9569F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0" name="cover-meta-label-1">
            <a:extLst xmlns:a="http://schemas.openxmlformats.org/drawingml/2006/main">
              <a:ext uri="{FF2B5EF4-FFF2-40B4-BE49-F238E27FC236}">
                <a16:creationId xmlns:a16="http://schemas.microsoft.com/office/drawing/2014/main" id="{8BF6402B-DCD5-48AC-8AC6-C4C3567F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作業</a:t>
            </a:r>
          </a:p>
        </p:txBody>
      </p:sp>
      <p:sp>
        <p:nvSpPr>
          <p:cNvPr id="11" name="cover-meta-value-1">
            <a:extLst xmlns:a="http://schemas.openxmlformats.org/drawingml/2006/main">
              <a:ext uri="{FF2B5EF4-FFF2-40B4-BE49-F238E27FC236}">
                <a16:creationId xmlns:a16="http://schemas.microsoft.com/office/drawing/2014/main" id="{F15796D7-7103-4D0C-8213-0BBECCD6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6ページの前後比較</a:t>
            </a:r>
          </a:p>
        </p:txBody>
      </p:sp>
      <p:sp>
        <p:nvSpPr>
          <p:cNvPr id="12" name="cover-meta-rule-1">
            <a:extLst xmlns:a="http://schemas.openxmlformats.org/drawingml/2006/main">
              <a:ext uri="{FF2B5EF4-FFF2-40B4-BE49-F238E27FC236}">
                <a16:creationId xmlns:a16="http://schemas.microsoft.com/office/drawing/2014/main" id="{2743A306-9474-4DE7-9C5A-315C8F7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3" name="cover-meta-label-2">
            <a:extLst xmlns:a="http://schemas.openxmlformats.org/drawingml/2006/main">
              <a:ext uri="{FF2B5EF4-FFF2-40B4-BE49-F238E27FC236}">
                <a16:creationId xmlns:a16="http://schemas.microsoft.com/office/drawing/2014/main" id="{592C942C-F2DD-409D-819B-F7710F2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調整</a:t>
            </a:r>
          </a:p>
        </p:txBody>
      </p:sp>
      <p:sp>
        <p:nvSpPr>
          <p:cNvPr id="14" name="cover-meta-value-2">
            <a:extLst xmlns:a="http://schemas.openxmlformats.org/drawingml/2006/main">
              <a:ext uri="{FF2B5EF4-FFF2-40B4-BE49-F238E27FC236}">
                <a16:creationId xmlns:a16="http://schemas.microsoft.com/office/drawing/2014/main" id="{F89AF820-D368-4CA8-BB3A-6BA4707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文字組み・表・余白</a:t>
            </a:r>
          </a:p>
        </p:txBody>
      </p:sp>
      <p:sp>
        <p:nvSpPr>
          <p:cNvPr id="15" name="cover-meta-rule-2">
            <a:extLst xmlns:a="http://schemas.openxmlformats.org/drawingml/2006/main">
              <a:ext uri="{FF2B5EF4-FFF2-40B4-BE49-F238E27FC236}">
                <a16:creationId xmlns:a16="http://schemas.microsoft.com/office/drawing/2014/main" id="{1A4288E5-AEA4-4310-A8E7-76932AC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6" name="cover-meta-label-3">
            <a:extLst xmlns:a="http://schemas.openxmlformats.org/drawingml/2006/main">
              <a:ext uri="{FF2B5EF4-FFF2-40B4-BE49-F238E27FC236}">
                <a16:creationId xmlns:a16="http://schemas.microsoft.com/office/drawing/2014/main" id="{7E643510-AC41-4AFF-91AD-C5DCCEF1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成果物</a:t>
            </a:r>
          </a:p>
        </p:txBody>
      </p:sp>
      <p:sp>
        <p:nvSpPr>
          <p:cNvPr id="17" name="cover-meta-value-3">
            <a:extLst xmlns:a="http://schemas.openxmlformats.org/drawingml/2006/main">
              <a:ext uri="{FF2B5EF4-FFF2-40B4-BE49-F238E27FC236}">
                <a16:creationId xmlns:a16="http://schemas.microsoft.com/office/drawing/2014/main" id="{BC9B3A0D-131A-4A0F-8BE1-251CDC93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PPTX・確認用PDF</a:t>
            </a:r>
          </a:p>
        </p:txBody>
      </p:sp>
      <p:sp>
        <p:nvSpPr>
          <p:cNvPr id="18" name="cover-note">
            <a:extLst xmlns:a="http://schemas.openxmlformats.org/drawingml/2006/main">
              <a:ext uri="{FF2B5EF4-FFF2-40B4-BE49-F238E27FC236}">
                <a16:creationId xmlns:a16="http://schemas.microsoft.com/office/drawing/2014/main" id="{5D4E785F-408E-4841-9C86-752090D8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顧客資料・企業ロゴ・外部画像は使用していません。</a:t>
            </a:r>
          </a:p>
        </p:txBody>
      </p:sp>
      <p:sp>
        <p:nvSpPr>
          <p:cNvPr id="1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78123A5-8A1B-4B31-A2A4-7D8BF53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0" name="footer-name-1">
            <a:extLst xmlns:a="http://schemas.openxmlformats.org/drawingml/2006/main">
              <a:ext uri="{FF2B5EF4-FFF2-40B4-BE49-F238E27FC236}">
                <a16:creationId xmlns:a16="http://schemas.microsoft.com/office/drawing/2014/main" id="{C9D74D15-6FC7-4496-962F-59BEBB3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2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50D79058-85ED-441B-B609-E0F1607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9850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abel-2">
            <a:extLst xmlns:a="http://schemas.openxmlformats.org/drawingml/2006/main">
              <a:ext uri="{FF2B5EF4-FFF2-40B4-BE49-F238E27FC236}">
                <a16:creationId xmlns:a16="http://schemas.microsoft.com/office/drawing/2014/main" id="{DC677EAC-7588-4ACA-A18A-1748967F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02  想定素材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F953B30-A032-45E0-8DA0-F85AA1DB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編集前に、変えない部分と元原稿を確認する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397F05E8-D75E-478A-990D-3E7586C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332D"/>
            </a:solidFill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7C77240-58A2-4A30-87A2-7DF2AB2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5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DE0ABBAC-6AEE-422B-91E4-17275317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BE652EB-6176-426C-A1BA-2156181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p2-left-label">
            <a:extLst xmlns:a="http://schemas.openxmlformats.org/drawingml/2006/main">
              <a:ext uri="{FF2B5EF4-FFF2-40B4-BE49-F238E27FC236}">
                <a16:creationId xmlns:a16="http://schemas.microsoft.com/office/drawing/2014/main" id="{447DAF32-EC34-4388-AA80-478057F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想定テンプレート</a:t>
            </a:r>
          </a:p>
        </p:txBody>
      </p:sp>
      <p:sp>
        <p:nvSpPr>
          <p:cNvPr id="8" name="p2-template-paper">
            <a:extLst xmlns:a="http://schemas.openxmlformats.org/drawingml/2006/main">
              <a:ext uri="{FF2B5EF4-FFF2-40B4-BE49-F238E27FC236}">
                <a16:creationId xmlns:a16="http://schemas.microsoft.com/office/drawing/2014/main" id="{EB2C2388-3E62-4F9A-8955-6105F0C9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572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9" name="p2-template-rail">
            <a:extLst xmlns:a="http://schemas.openxmlformats.org/drawingml/2006/main">
              <a:ext uri="{FF2B5EF4-FFF2-40B4-BE49-F238E27FC236}">
                <a16:creationId xmlns:a16="http://schemas.microsoft.com/office/drawing/2014/main" id="{8479CBCA-FEF1-4535-8930-CF602BA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template-section">
            <a:extLst xmlns:a="http://schemas.openxmlformats.org/drawingml/2006/main">
              <a:ext uri="{FF2B5EF4-FFF2-40B4-BE49-F238E27FC236}">
                <a16:creationId xmlns:a16="http://schemas.microsoft.com/office/drawing/2014/main" id="{FA77DA6C-64BE-48EF-AE37-6EA97C6D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3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11" name="p2-template-title">
            <a:extLst xmlns:a="http://schemas.openxmlformats.org/drawingml/2006/main">
              <a:ext uri="{FF2B5EF4-FFF2-40B4-BE49-F238E27FC236}">
                <a16:creationId xmlns:a16="http://schemas.microsoft.com/office/drawing/2014/main" id="{3B39B1D8-6E6C-4008-A624-371B811E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ページタイトル</a:t>
            </a:r>
          </a:p>
        </p:txBody>
      </p:sp>
      <p:sp>
        <p:nvSpPr>
          <p:cNvPr id="12" name="p2-template-rule">
            <a:extLst xmlns:a="http://schemas.openxmlformats.org/drawingml/2006/main">
              <a:ext uri="{FF2B5EF4-FFF2-40B4-BE49-F238E27FC236}">
                <a16:creationId xmlns:a16="http://schemas.microsoft.com/office/drawing/2014/main" id="{BE994CF8-FD97-4B70-9A66-29CF5CE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725C"/>
            </a:solidFill>
            <a:prstDash val="solid"/>
          </a:ln>
        </p:spPr>
      </p:sp>
      <p:sp>
        <p:nvSpPr>
          <p:cNvPr id="13" name="p2-template-placeholder-0">
            <a:extLst xmlns:a="http://schemas.openxmlformats.org/drawingml/2006/main">
              <a:ext uri="{FF2B5EF4-FFF2-40B4-BE49-F238E27FC236}">
                <a16:creationId xmlns:a16="http://schemas.microsoft.com/office/drawing/2014/main" id="{7A7B8CAC-DDD6-495D-9428-25D30C4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377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3CD"/>
            </a:solidFill>
            <a:prstDash val="solid"/>
          </a:ln>
        </p:spPr>
      </p:sp>
      <p:sp>
        <p:nvSpPr>
          <p:cNvPr id="14" name="p2-template-placeholder-1">
            <a:extLst xmlns:a="http://schemas.openxmlformats.org/drawingml/2006/main">
              <a:ext uri="{FF2B5EF4-FFF2-40B4-BE49-F238E27FC236}">
                <a16:creationId xmlns:a16="http://schemas.microsoft.com/office/drawing/2014/main" id="{4ADF6913-2005-45B3-B8BD-70FFF11E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3CD"/>
            </a:solidFill>
            <a:prstDash val="solid"/>
          </a:ln>
        </p:spPr>
      </p:sp>
      <p:sp>
        <p:nvSpPr>
          <p:cNvPr id="15" name="p2-template-placeholder-2">
            <a:extLst xmlns:a="http://schemas.openxmlformats.org/drawingml/2006/main">
              <a:ext uri="{FF2B5EF4-FFF2-40B4-BE49-F238E27FC236}">
                <a16:creationId xmlns:a16="http://schemas.microsoft.com/office/drawing/2014/main" id="{65479822-664D-4CCD-AB8F-A270E8FA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3CD"/>
            </a:solidFill>
            <a:prstDash val="solid"/>
          </a:ln>
        </p:spPr>
      </p:sp>
      <p:sp>
        <p:nvSpPr>
          <p:cNvPr id="16" name="p2-template-placeholder-3">
            <a:extLst xmlns:a="http://schemas.openxmlformats.org/drawingml/2006/main">
              <a:ext uri="{FF2B5EF4-FFF2-40B4-BE49-F238E27FC236}">
                <a16:creationId xmlns:a16="http://schemas.microsoft.com/office/drawing/2014/main" id="{8E3A03D2-4A9A-44ED-A35D-383BC50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3CD"/>
            </a:solidFill>
            <a:prstDash val="solid"/>
          </a:ln>
        </p:spPr>
      </p:sp>
      <p:sp>
        <p:nvSpPr>
          <p:cNvPr id="17" name="p2-template-footer-rule">
            <a:extLst xmlns:a="http://schemas.openxmlformats.org/drawingml/2006/main">
              <a:ext uri="{FF2B5EF4-FFF2-40B4-BE49-F238E27FC236}">
                <a16:creationId xmlns:a16="http://schemas.microsoft.com/office/drawing/2014/main" id="{CCBE41F9-502F-453F-A056-76B124D8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8" name="p2-template-page">
            <a:extLst xmlns:a="http://schemas.openxmlformats.org/drawingml/2006/main">
              <a:ext uri="{FF2B5EF4-FFF2-40B4-BE49-F238E27FC236}">
                <a16:creationId xmlns:a16="http://schemas.microsoft.com/office/drawing/2014/main" id="{0D7DEE6D-089A-4731-85FC-6627B861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00</a:t>
            </a:r>
          </a:p>
        </p:txBody>
      </p:sp>
      <p:sp>
        <p:nvSpPr>
          <p:cNvPr id="19" name="p2-left-note">
            <a:extLst xmlns:a="http://schemas.openxmlformats.org/drawingml/2006/main">
              <a:ext uri="{FF2B5EF4-FFF2-40B4-BE49-F238E27FC236}">
                <a16:creationId xmlns:a16="http://schemas.microsoft.com/office/drawing/2014/main" id="{A09C3A93-5EF8-4BB4-B19C-A39F07E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16:9 / 緑の見出し線 / 左レール / ページ番号</a:t>
            </a:r>
          </a:p>
        </p:txBody>
      </p:sp>
      <p:sp>
        <p:nvSpPr>
          <p:cNvPr id="20" name="p2-right-label">
            <a:extLst xmlns:a="http://schemas.openxmlformats.org/drawingml/2006/main">
              <a:ext uri="{FF2B5EF4-FFF2-40B4-BE49-F238E27FC236}">
                <a16:creationId xmlns:a16="http://schemas.microsoft.com/office/drawing/2014/main" id="{4F80D2B3-C152-422B-BDF0-7C50CF8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rPr>
              <a:t>想定原稿</a:t>
            </a:r>
          </a:p>
        </p:txBody>
      </p:sp>
      <p:sp>
        <p:nvSpPr>
          <p:cNvPr id="21" name="p2-copy-paper">
            <a:extLst xmlns:a="http://schemas.openxmlformats.org/drawingml/2006/main">
              <a:ext uri="{FF2B5EF4-FFF2-40B4-BE49-F238E27FC236}">
                <a16:creationId xmlns:a16="http://schemas.microsoft.com/office/drawing/2014/main" id="{94F5F25E-F0F4-40A4-B0F3-D25FA8C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4895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2" name="p2-copy-title-label">
            <a:extLst xmlns:a="http://schemas.openxmlformats.org/drawingml/2006/main">
              <a:ext uri="{FF2B5EF4-FFF2-40B4-BE49-F238E27FC236}">
                <a16:creationId xmlns:a16="http://schemas.microsoft.com/office/drawing/2014/main" id="{D6444138-1BBF-4FD6-A4A8-99E6ADA3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タイトル</a:t>
            </a:r>
          </a:p>
        </p:txBody>
      </p:sp>
      <p:sp>
        <p:nvSpPr>
          <p:cNvPr id="23" name="p2-copy-title">
            <a:extLst xmlns:a="http://schemas.openxmlformats.org/drawingml/2006/main">
              <a:ext uri="{FF2B5EF4-FFF2-40B4-BE49-F238E27FC236}">
                <a16:creationId xmlns:a16="http://schemas.microsoft.com/office/drawing/2014/main" id="{2EC16382-FDFA-459C-BA38-1ED85121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研修開始前の準備</a:t>
            </a:r>
          </a:p>
        </p:txBody>
      </p:sp>
      <p:sp>
        <p:nvSpPr>
          <p:cNvPr id="24" name="p2-copy-rule-1">
            <a:extLst xmlns:a="http://schemas.openxmlformats.org/drawingml/2006/main">
              <a:ext uri="{FF2B5EF4-FFF2-40B4-BE49-F238E27FC236}">
                <a16:creationId xmlns:a16="http://schemas.microsoft.com/office/drawing/2014/main" id="{483CB17A-3CE9-4083-A44F-53969D52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436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5" name="p2-copy-body-label">
            <a:extLst xmlns:a="http://schemas.openxmlformats.org/drawingml/2006/main">
              <a:ext uri="{FF2B5EF4-FFF2-40B4-BE49-F238E27FC236}">
                <a16:creationId xmlns:a16="http://schemas.microsoft.com/office/drawing/2014/main" id="{0BD79688-91EF-44AB-8E10-072F4C2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本文</a:t>
            </a:r>
          </a:p>
        </p:txBody>
      </p:sp>
      <p:sp>
        <p:nvSpPr>
          <p:cNvPr id="26" name="p2-copy-body">
            <a:extLst xmlns:a="http://schemas.openxmlformats.org/drawingml/2006/main">
              <a:ext uri="{FF2B5EF4-FFF2-40B4-BE49-F238E27FC236}">
                <a16:creationId xmlns:a16="http://schemas.microsoft.com/office/drawing/2014/main" id="{295A4A21-1046-4DBC-8EDA-7B4B4010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初日はアカウントを確認します。ログインできない場合は担当者へ連絡します。終わったらチェック欄へ日付を入力してください。</a:t>
            </a:r>
          </a:p>
        </p:txBody>
      </p:sp>
      <p:sp>
        <p:nvSpPr>
          <p:cNvPr id="27" name="p2-copy-note">
            <a:extLst xmlns:a="http://schemas.openxmlformats.org/drawingml/2006/main">
              <a:ext uri="{FF2B5EF4-FFF2-40B4-BE49-F238E27FC236}">
                <a16:creationId xmlns:a16="http://schemas.microsoft.com/office/drawing/2014/main" id="{26E3F254-709A-4D0B-9F23-7DBE928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補足：ロゴ枠は空けておく</a:t>
            </a:r>
          </a:p>
        </p:txBody>
      </p:sp>
      <p:sp>
        <p:nvSpPr>
          <p:cNvPr id="28" name="p2-condition">
            <a:extLst xmlns:a="http://schemas.openxmlformats.org/drawingml/2006/main">
              <a:ext uri="{FF2B5EF4-FFF2-40B4-BE49-F238E27FC236}">
                <a16:creationId xmlns:a16="http://schemas.microsoft.com/office/drawing/2014/main" id="{CAB94CAE-F6E7-49C8-B804-46508727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489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73C3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73C31"/>
                </a:solidFill>
                <a:latin typeface="Hiragino Sans"/>
                <a:ea typeface="Hiragino Sans"/>
                <a:cs typeface="Hiragino Sans"/>
              </a:rPr>
              <a:t>自主制作上の条件：色とヘッダー位置は維持。見出し階層、改行、表の幅、差し替え余白を調整。</a:t>
            </a:r>
          </a:p>
        </p:txBody>
      </p:sp>
    </p:spTree>
    <p:extLst>
      <p:ext uri="{BB962C8B-B14F-4D97-AF65-F5344CB8AC3E}">
        <p14:creationId xmlns:p14="http://schemas.microsoft.com/office/powerpoint/2010/main" val="1055601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abel-3">
            <a:extLst xmlns:a="http://schemas.openxmlformats.org/drawingml/2006/main">
              <a:ext uri="{FF2B5EF4-FFF2-40B4-BE49-F238E27FC236}">
                <a16:creationId xmlns:a16="http://schemas.microsoft.com/office/drawing/2014/main" id="{DFED828B-011E-417A-BF82-C1D980A7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03  編集前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1B90E9E-45F7-4317-9B6B-BF18967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原稿をそのまま置くと、重要な行動が本文に埋もれる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1A3069F-7A22-4235-B870-FD31FDCB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332D"/>
            </a:solidFill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84C7A4F-B576-49C2-A642-7123A46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5" name="footer-name-3">
            <a:extLst xmlns:a="http://schemas.openxmlformats.org/drawingml/2006/main">
              <a:ext uri="{FF2B5EF4-FFF2-40B4-BE49-F238E27FC236}">
                <a16:creationId xmlns:a16="http://schemas.microsoft.com/office/drawing/2014/main" id="{6CFE4C2B-AB8A-4439-A9D6-43C77B2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C871D4E-FC3B-4946-9EEC-8234E63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7" name="p3-before-paper">
            <a:extLst xmlns:a="http://schemas.openxmlformats.org/drawingml/2006/main">
              <a:ext uri="{FF2B5EF4-FFF2-40B4-BE49-F238E27FC236}">
                <a16:creationId xmlns:a16="http://schemas.microsoft.com/office/drawing/2014/main" id="{3423EA97-09B8-47B9-B87A-128A56AB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8" name="p3-before-rail">
            <a:extLst xmlns:a="http://schemas.openxmlformats.org/drawingml/2006/main">
              <a:ext uri="{FF2B5EF4-FFF2-40B4-BE49-F238E27FC236}">
                <a16:creationId xmlns:a16="http://schemas.microsoft.com/office/drawing/2014/main" id="{7A14EFC9-C747-429C-8347-0BC78424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3-before-section">
            <a:extLst xmlns:a="http://schemas.openxmlformats.org/drawingml/2006/main">
              <a:ext uri="{FF2B5EF4-FFF2-40B4-BE49-F238E27FC236}">
                <a16:creationId xmlns:a16="http://schemas.microsoft.com/office/drawing/2014/main" id="{C299EAA4-0954-4C2B-AEDE-0D651DA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SECTION 01 / 研修準備</a:t>
            </a:r>
          </a:p>
        </p:txBody>
      </p:sp>
      <p:sp>
        <p:nvSpPr>
          <p:cNvPr id="10" name="p3-before-title">
            <a:extLst xmlns:a="http://schemas.openxmlformats.org/drawingml/2006/main">
              <a:ext uri="{FF2B5EF4-FFF2-40B4-BE49-F238E27FC236}">
                <a16:creationId xmlns:a16="http://schemas.microsoft.com/office/drawing/2014/main" id="{8CF68034-399E-4E1B-84FF-4EF4A95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研修開始前の準備について</a:t>
            </a:r>
          </a:p>
        </p:txBody>
      </p:sp>
      <p:sp>
        <p:nvSpPr>
          <p:cNvPr id="11" name="p3-before-rule">
            <a:extLst xmlns:a="http://schemas.openxmlformats.org/drawingml/2006/main">
              <a:ext uri="{FF2B5EF4-FFF2-40B4-BE49-F238E27FC236}">
                <a16:creationId xmlns:a16="http://schemas.microsoft.com/office/drawing/2014/main" id="{467266F5-9453-4789-9577-1008B64E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725C"/>
            </a:solidFill>
            <a:prstDash val="solid"/>
          </a:ln>
        </p:spPr>
      </p:sp>
      <p:sp>
        <p:nvSpPr>
          <p:cNvPr id="12" name="p3-before-body">
            <a:extLst xmlns:a="http://schemas.openxmlformats.org/drawingml/2006/main">
              <a:ext uri="{FF2B5EF4-FFF2-40B4-BE49-F238E27FC236}">
                <a16:creationId xmlns:a16="http://schemas.microsoft.com/office/drawing/2014/main" id="{F9E12CF6-7A2B-454D-A669-9813563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705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初日はアカウントを確認します。ログインできない場合は担当者へ連絡します。終わったらチェック欄へ日付を入力してください。また、プロフィール画像と表示名を確認し、必要に応じて更新してください。共有フォルダを開き、研修資料が表示できることも確認してください。</a:t>
            </a:r>
          </a:p>
        </p:txBody>
      </p:sp>
      <p:sp>
        <p:nvSpPr>
          <p:cNvPr id="13" name="p3-before-footer-rule">
            <a:extLst xmlns:a="http://schemas.openxmlformats.org/drawingml/2006/main">
              <a:ext uri="{FF2B5EF4-FFF2-40B4-BE49-F238E27FC236}">
                <a16:creationId xmlns:a16="http://schemas.microsoft.com/office/drawing/2014/main" id="{73B7D082-908D-48F2-9D82-05516F5B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4" name="p3-before-page">
            <a:extLst xmlns:a="http://schemas.openxmlformats.org/drawingml/2006/main">
              <a:ext uri="{FF2B5EF4-FFF2-40B4-BE49-F238E27FC236}">
                <a16:creationId xmlns:a16="http://schemas.microsoft.com/office/drawing/2014/main" id="{1C22AD95-736E-49DD-BE5E-2DEB629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86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00</a:t>
            </a:r>
          </a:p>
        </p:txBody>
      </p:sp>
      <p:sp>
        <p:nvSpPr>
          <p:cNvPr id="15" name="p3-issues-title">
            <a:extLst xmlns:a="http://schemas.openxmlformats.org/drawingml/2006/main">
              <a:ext uri="{FF2B5EF4-FFF2-40B4-BE49-F238E27FC236}">
                <a16:creationId xmlns:a16="http://schemas.microsoft.com/office/drawing/2014/main" id="{6C372DB8-F5C6-49FF-8640-B09FD6C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編集前に見つけた点</a:t>
            </a:r>
          </a:p>
        </p:txBody>
      </p:sp>
      <p:sp>
        <p:nvSpPr>
          <p:cNvPr id="16" name="p3-issue-num-bg-0">
            <a:extLst xmlns:a="http://schemas.openxmlformats.org/drawingml/2006/main">
              <a:ext uri="{FF2B5EF4-FFF2-40B4-BE49-F238E27FC236}">
                <a16:creationId xmlns:a16="http://schemas.microsoft.com/office/drawing/2014/main" id="{307DE01A-6263-42CA-A3DB-BF29E32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3-issue-num-0">
            <a:extLst xmlns:a="http://schemas.openxmlformats.org/drawingml/2006/main">
              <a:ext uri="{FF2B5EF4-FFF2-40B4-BE49-F238E27FC236}">
                <a16:creationId xmlns:a16="http://schemas.microsoft.com/office/drawing/2014/main" id="{7BD5B8DE-6BBC-4C16-B94F-505F51A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8" name="p3-issue-text-0">
            <a:extLst xmlns:a="http://schemas.openxmlformats.org/drawingml/2006/main">
              <a:ext uri="{FF2B5EF4-FFF2-40B4-BE49-F238E27FC236}">
                <a16:creationId xmlns:a16="http://schemas.microsoft.com/office/drawing/2014/main" id="{C9F67026-A23E-4C65-BC94-A855A1E5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146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行動と補足が一つの段落</a:t>
            </a:r>
          </a:p>
        </p:txBody>
      </p:sp>
      <p:sp>
        <p:nvSpPr>
          <p:cNvPr id="19" name="p3-issue-num-bg-1">
            <a:extLst xmlns:a="http://schemas.openxmlformats.org/drawingml/2006/main">
              <a:ext uri="{FF2B5EF4-FFF2-40B4-BE49-F238E27FC236}">
                <a16:creationId xmlns:a16="http://schemas.microsoft.com/office/drawing/2014/main" id="{7CDFF284-6433-4B36-82FF-7871D457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3-issue-num-1">
            <a:extLst xmlns:a="http://schemas.openxmlformats.org/drawingml/2006/main">
              <a:ext uri="{FF2B5EF4-FFF2-40B4-BE49-F238E27FC236}">
                <a16:creationId xmlns:a16="http://schemas.microsoft.com/office/drawing/2014/main" id="{7FA1AE5D-2E62-4805-B638-6F9F9E30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52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1" name="p3-issue-text-1">
            <a:extLst xmlns:a="http://schemas.openxmlformats.org/drawingml/2006/main">
              <a:ext uri="{FF2B5EF4-FFF2-40B4-BE49-F238E27FC236}">
                <a16:creationId xmlns:a16="http://schemas.microsoft.com/office/drawing/2014/main" id="{D2CB5BFF-3FDE-4338-B004-A53590ED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956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相談先が本文の途中にある</a:t>
            </a:r>
          </a:p>
        </p:txBody>
      </p:sp>
      <p:sp>
        <p:nvSpPr>
          <p:cNvPr id="22" name="p3-issue-num-bg-2">
            <a:extLst xmlns:a="http://schemas.openxmlformats.org/drawingml/2006/main">
              <a:ext uri="{FF2B5EF4-FFF2-40B4-BE49-F238E27FC236}">
                <a16:creationId xmlns:a16="http://schemas.microsoft.com/office/drawing/2014/main" id="{4FC311F3-0EEA-4F9D-8746-E2C2174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3-issue-num-2">
            <a:extLst xmlns:a="http://schemas.openxmlformats.org/drawingml/2006/main">
              <a:ext uri="{FF2B5EF4-FFF2-40B4-BE49-F238E27FC236}">
                <a16:creationId xmlns:a16="http://schemas.microsoft.com/office/drawing/2014/main" id="{3D9397AB-37F4-48B2-85A6-C1749251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338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4" name="p3-issue-text-2">
            <a:extLst xmlns:a="http://schemas.openxmlformats.org/drawingml/2006/main">
              <a:ext uri="{FF2B5EF4-FFF2-40B4-BE49-F238E27FC236}">
                <a16:creationId xmlns:a16="http://schemas.microsoft.com/office/drawing/2014/main" id="{F11DD519-1F15-4C3D-95FF-D3907F0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767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完了条件が分からない</a:t>
            </a:r>
          </a:p>
        </p:txBody>
      </p:sp>
      <p:sp>
        <p:nvSpPr>
          <p:cNvPr id="25" name="p3-conclusion">
            <a:extLst xmlns:a="http://schemas.openxmlformats.org/drawingml/2006/main">
              <a:ext uri="{FF2B5EF4-FFF2-40B4-BE49-F238E27FC236}">
                <a16:creationId xmlns:a16="http://schemas.microsoft.com/office/drawing/2014/main" id="{A0A2B021-5069-4160-BC14-88D82E56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006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73C3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3C31"/>
                </a:solidFill>
                <a:latin typeface="Hiragino Sans"/>
                <a:ea typeface="Hiragino Sans"/>
                <a:cs typeface="Hiragino Sans"/>
              </a:rPr>
              <a:t>文字数を減らす前に、役割ごとに分けます。</a:t>
            </a:r>
          </a:p>
        </p:txBody>
      </p:sp>
    </p:spTree>
    <p:extLst>
      <p:ext uri="{BB962C8B-B14F-4D97-AF65-F5344CB8AC3E}">
        <p14:creationId xmlns:p14="http://schemas.microsoft.com/office/powerpoint/2010/main" val="1225704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label-4">
            <a:extLst xmlns:a="http://schemas.openxmlformats.org/drawingml/2006/main">
              <a:ext uri="{FF2B5EF4-FFF2-40B4-BE49-F238E27FC236}">
                <a16:creationId xmlns:a16="http://schemas.microsoft.com/office/drawing/2014/main" id="{CAAA3F5B-B343-4C9C-9596-3C57309D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04  編集後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D046FEC-13DA-4C6E-A8F5-A616FA68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行動、相談先、完了条件を別の位置へ置く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49E22B8-FEDE-4189-ABB1-0751A6D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332D"/>
            </a:solidFill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CA4F422-1B94-4995-85BC-15499D7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5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F6E46F71-9CA6-4732-818A-86F7E31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84D4702-3B07-49D6-8C39-34B28EC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7" name="p4-slide">
            <a:extLst xmlns:a="http://schemas.openxmlformats.org/drawingml/2006/main">
              <a:ext uri="{FF2B5EF4-FFF2-40B4-BE49-F238E27FC236}">
                <a16:creationId xmlns:a16="http://schemas.microsoft.com/office/drawing/2014/main" id="{BA559028-B185-470E-812D-37FAE32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8" name="p4-rail">
            <a:extLst xmlns:a="http://schemas.openxmlformats.org/drawingml/2006/main">
              <a:ext uri="{FF2B5EF4-FFF2-40B4-BE49-F238E27FC236}">
                <a16:creationId xmlns:a16="http://schemas.microsoft.com/office/drawing/2014/main" id="{173E683A-3AB1-4FF6-B828-1E4A96A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4-section-bg">
            <a:extLst xmlns:a="http://schemas.openxmlformats.org/drawingml/2006/main">
              <a:ext uri="{FF2B5EF4-FFF2-40B4-BE49-F238E27FC236}">
                <a16:creationId xmlns:a16="http://schemas.microsoft.com/office/drawing/2014/main" id="{20411B39-DE82-483F-9661-DEF1637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1809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section-text">
            <a:extLst xmlns:a="http://schemas.openxmlformats.org/drawingml/2006/main">
              <a:ext uri="{FF2B5EF4-FFF2-40B4-BE49-F238E27FC236}">
                <a16:creationId xmlns:a16="http://schemas.microsoft.com/office/drawing/2014/main" id="{DEAE82AA-7A6D-46AE-BE37-8611492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SECTION 01 / 研修準備</a:t>
            </a:r>
          </a:p>
        </p:txBody>
      </p:sp>
      <p:sp>
        <p:nvSpPr>
          <p:cNvPr id="11" name="p4-title">
            <a:extLst xmlns:a="http://schemas.openxmlformats.org/drawingml/2006/main">
              <a:ext uri="{FF2B5EF4-FFF2-40B4-BE49-F238E27FC236}">
                <a16:creationId xmlns:a16="http://schemas.microsoft.com/office/drawing/2014/main" id="{AA758486-C02A-4A37-BF87-D8048DF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初日に確認する3項目</a:t>
            </a:r>
          </a:p>
        </p:txBody>
      </p:sp>
      <p:sp>
        <p:nvSpPr>
          <p:cNvPr id="12" name="p4-title-rule">
            <a:extLst xmlns:a="http://schemas.openxmlformats.org/drawingml/2006/main">
              <a:ext uri="{FF2B5EF4-FFF2-40B4-BE49-F238E27FC236}">
                <a16:creationId xmlns:a16="http://schemas.microsoft.com/office/drawing/2014/main" id="{3BDEEBA1-94C0-4375-BABC-6BD885E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725C"/>
            </a:solidFill>
            <a:prstDash val="solid"/>
          </a:ln>
        </p:spPr>
      </p:sp>
      <p:sp>
        <p:nvSpPr>
          <p:cNvPr id="13" name="p4-num-0">
            <a:extLst xmlns:a="http://schemas.openxmlformats.org/drawingml/2006/main">
              <a:ext uri="{FF2B5EF4-FFF2-40B4-BE49-F238E27FC236}">
                <a16:creationId xmlns:a16="http://schemas.microsoft.com/office/drawing/2014/main" id="{BC5647E2-7022-4DB6-8187-FD84F013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4" name="p4-task-0">
            <a:extLst xmlns:a="http://schemas.openxmlformats.org/drawingml/2006/main">
              <a:ext uri="{FF2B5EF4-FFF2-40B4-BE49-F238E27FC236}">
                <a16:creationId xmlns:a16="http://schemas.microsoft.com/office/drawing/2014/main" id="{8F9C5477-7B31-4D19-A731-A0868ACE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アカウント</a:t>
            </a:r>
          </a:p>
        </p:txBody>
      </p:sp>
      <p:sp>
        <p:nvSpPr>
          <p:cNvPr id="15" name="p4-desc-0">
            <a:extLst xmlns:a="http://schemas.openxmlformats.org/drawingml/2006/main">
              <a:ext uri="{FF2B5EF4-FFF2-40B4-BE49-F238E27FC236}">
                <a16:creationId xmlns:a16="http://schemas.microsoft.com/office/drawing/2014/main" id="{88EEB196-669D-4760-877D-21772C8D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ログインできるか確認</a:t>
            </a:r>
          </a:p>
        </p:txBody>
      </p:sp>
      <p:sp>
        <p:nvSpPr>
          <p:cNvPr id="16" name="p4-row-rule-0">
            <a:extLst xmlns:a="http://schemas.openxmlformats.org/drawingml/2006/main">
              <a:ext uri="{FF2B5EF4-FFF2-40B4-BE49-F238E27FC236}">
                <a16:creationId xmlns:a16="http://schemas.microsoft.com/office/drawing/2014/main" id="{7E69C0AE-FFA5-4097-8E5D-61831697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7" name="p4-num-1">
            <a:extLst xmlns:a="http://schemas.openxmlformats.org/drawingml/2006/main">
              <a:ext uri="{FF2B5EF4-FFF2-40B4-BE49-F238E27FC236}">
                <a16:creationId xmlns:a16="http://schemas.microsoft.com/office/drawing/2014/main" id="{E8846988-4FBA-4721-98CC-FA5AA47A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8" name="p4-task-1">
            <a:extLst xmlns:a="http://schemas.openxmlformats.org/drawingml/2006/main">
              <a:ext uri="{FF2B5EF4-FFF2-40B4-BE49-F238E27FC236}">
                <a16:creationId xmlns:a16="http://schemas.microsoft.com/office/drawing/2014/main" id="{895127A5-299B-4853-9569-1457630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33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プロフィール</a:t>
            </a:r>
          </a:p>
        </p:txBody>
      </p:sp>
      <p:sp>
        <p:nvSpPr>
          <p:cNvPr id="19" name="p4-desc-1">
            <a:extLst xmlns:a="http://schemas.openxmlformats.org/drawingml/2006/main">
              <a:ext uri="{FF2B5EF4-FFF2-40B4-BE49-F238E27FC236}">
                <a16:creationId xmlns:a16="http://schemas.microsoft.com/office/drawing/2014/main" id="{BEAE9934-8245-4CE5-8750-C12BA94D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表示名と画像を確認</a:t>
            </a:r>
          </a:p>
        </p:txBody>
      </p:sp>
      <p:sp>
        <p:nvSpPr>
          <p:cNvPr id="20" name="p4-row-rule-1">
            <a:extLst xmlns:a="http://schemas.openxmlformats.org/drawingml/2006/main">
              <a:ext uri="{FF2B5EF4-FFF2-40B4-BE49-F238E27FC236}">
                <a16:creationId xmlns:a16="http://schemas.microsoft.com/office/drawing/2014/main" id="{4B57319C-CF27-4DFA-8CC1-5F0A489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1" name="p4-num-2">
            <a:extLst xmlns:a="http://schemas.openxmlformats.org/drawingml/2006/main">
              <a:ext uri="{FF2B5EF4-FFF2-40B4-BE49-F238E27FC236}">
                <a16:creationId xmlns:a16="http://schemas.microsoft.com/office/drawing/2014/main" id="{E98BDAF7-E56A-4381-B04F-81819E02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2" name="p4-task-2">
            <a:extLst xmlns:a="http://schemas.openxmlformats.org/drawingml/2006/main">
              <a:ext uri="{FF2B5EF4-FFF2-40B4-BE49-F238E27FC236}">
                <a16:creationId xmlns:a16="http://schemas.microsoft.com/office/drawing/2014/main" id="{B3F1EB07-A477-4E3C-9B9F-1528837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共有フォルダ</a:t>
            </a:r>
          </a:p>
        </p:txBody>
      </p:sp>
      <p:sp>
        <p:nvSpPr>
          <p:cNvPr id="23" name="p4-desc-2">
            <a:extLst xmlns:a="http://schemas.openxmlformats.org/drawingml/2006/main">
              <a:ext uri="{FF2B5EF4-FFF2-40B4-BE49-F238E27FC236}">
                <a16:creationId xmlns:a16="http://schemas.microsoft.com/office/drawing/2014/main" id="{31C5E291-DE34-4CC1-8DEE-9B7949E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研修資料を開く</a:t>
            </a:r>
          </a:p>
        </p:txBody>
      </p:sp>
      <p:sp>
        <p:nvSpPr>
          <p:cNvPr id="24" name="p4-help">
            <a:extLst xmlns:a="http://schemas.openxmlformats.org/drawingml/2006/main">
              <a:ext uri="{FF2B5EF4-FFF2-40B4-BE49-F238E27FC236}">
                <a16:creationId xmlns:a16="http://schemas.microsoft.com/office/drawing/2014/main" id="{D7E7F408-7150-4D4A-A524-C4E8A19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4-help-text">
            <a:extLst xmlns:a="http://schemas.openxmlformats.org/drawingml/2006/main">
              <a:ext uri="{FF2B5EF4-FFF2-40B4-BE49-F238E27FC236}">
                <a16:creationId xmlns:a16="http://schemas.microsoft.com/office/drawing/2014/main" id="{D5E17E4E-2711-4656-AB6E-60571B2A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ログインできない場合：チームリードへ連絡</a:t>
            </a:r>
          </a:p>
        </p:txBody>
      </p:sp>
      <p:sp>
        <p:nvSpPr>
          <p:cNvPr id="26" name="p4-done">
            <a:extLst xmlns:a="http://schemas.openxmlformats.org/drawingml/2006/main">
              <a:ext uri="{FF2B5EF4-FFF2-40B4-BE49-F238E27FC236}">
                <a16:creationId xmlns:a16="http://schemas.microsoft.com/office/drawing/2014/main" id="{81DFF8EB-C75D-455D-8F66-B2453DC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7685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完了：3項目にチェックが付いている</a:t>
            </a:r>
          </a:p>
        </p:txBody>
      </p:sp>
      <p:sp>
        <p:nvSpPr>
          <p:cNvPr id="27" name="p4-change-title">
            <a:extLst xmlns:a="http://schemas.openxmlformats.org/drawingml/2006/main">
              <a:ext uri="{FF2B5EF4-FFF2-40B4-BE49-F238E27FC236}">
                <a16:creationId xmlns:a16="http://schemas.microsoft.com/office/drawing/2014/main" id="{C96083B4-0956-4C32-815F-4C937E8F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変更した箇所</a:t>
            </a:r>
          </a:p>
        </p:txBody>
      </p:sp>
      <p:sp>
        <p:nvSpPr>
          <p:cNvPr id="28" name="p4-change-num-0">
            <a:extLst xmlns:a="http://schemas.openxmlformats.org/drawingml/2006/main">
              <a:ext uri="{FF2B5EF4-FFF2-40B4-BE49-F238E27FC236}">
                <a16:creationId xmlns:a16="http://schemas.microsoft.com/office/drawing/2014/main" id="{8767710B-D12E-4F19-BF29-9FEF320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29" name="p4-change-text-0">
            <a:extLst xmlns:a="http://schemas.openxmlformats.org/drawingml/2006/main">
              <a:ext uri="{FF2B5EF4-FFF2-40B4-BE49-F238E27FC236}">
                <a16:creationId xmlns:a16="http://schemas.microsoft.com/office/drawing/2014/main" id="{D5CC76BF-2AA7-4E0C-8EC0-48213254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段落を3つの行動へ分割</a:t>
            </a:r>
          </a:p>
        </p:txBody>
      </p:sp>
      <p:sp>
        <p:nvSpPr>
          <p:cNvPr id="30" name="p4-change-num-1">
            <a:extLst xmlns:a="http://schemas.openxmlformats.org/drawingml/2006/main">
              <a:ext uri="{FF2B5EF4-FFF2-40B4-BE49-F238E27FC236}">
                <a16:creationId xmlns:a16="http://schemas.microsoft.com/office/drawing/2014/main" id="{455C589A-5E1D-4E04-9519-FC1E87F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1" name="p4-change-text-1">
            <a:extLst xmlns:a="http://schemas.openxmlformats.org/drawingml/2006/main">
              <a:ext uri="{FF2B5EF4-FFF2-40B4-BE49-F238E27FC236}">
                <a16:creationId xmlns:a16="http://schemas.microsoft.com/office/drawing/2014/main" id="{66713BEB-D653-4864-9234-F890EAA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相談先をページ下部へ移動</a:t>
            </a:r>
          </a:p>
        </p:txBody>
      </p:sp>
      <p:sp>
        <p:nvSpPr>
          <p:cNvPr id="32" name="p4-change-num-2">
            <a:extLst xmlns:a="http://schemas.openxmlformats.org/drawingml/2006/main">
              <a:ext uri="{FF2B5EF4-FFF2-40B4-BE49-F238E27FC236}">
                <a16:creationId xmlns:a16="http://schemas.microsoft.com/office/drawing/2014/main" id="{72ACBC1D-EC2E-4010-BA5D-5AC31E88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33" name="p4-change-text-2">
            <a:extLst xmlns:a="http://schemas.openxmlformats.org/drawingml/2006/main">
              <a:ext uri="{FF2B5EF4-FFF2-40B4-BE49-F238E27FC236}">
                <a16:creationId xmlns:a16="http://schemas.microsoft.com/office/drawing/2014/main" id="{5E455A00-6C75-45B1-8A93-1D774A9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9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完了条件を右下に固定</a:t>
            </a:r>
          </a:p>
        </p:txBody>
      </p:sp>
      <p:sp>
        <p:nvSpPr>
          <p:cNvPr id="34" name="p4-change-note">
            <a:extLst xmlns:a="http://schemas.openxmlformats.org/drawingml/2006/main">
              <a:ext uri="{FF2B5EF4-FFF2-40B4-BE49-F238E27FC236}">
                <a16:creationId xmlns:a16="http://schemas.microsoft.com/office/drawing/2014/main" id="{0E234830-3EA1-426E-9D64-86B651C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想定テンプレートの色、ヘッダー、ページ番号は維持。</a:t>
            </a:r>
          </a:p>
        </p:txBody>
      </p:sp>
    </p:spTree>
    <p:extLst>
      <p:ext uri="{BB962C8B-B14F-4D97-AF65-F5344CB8AC3E}">
        <p14:creationId xmlns:p14="http://schemas.microsoft.com/office/powerpoint/2010/main" val="722959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bel-5">
            <a:extLst xmlns:a="http://schemas.openxmlformats.org/drawingml/2006/main">
              <a:ext uri="{FF2B5EF4-FFF2-40B4-BE49-F238E27FC236}">
                <a16:creationId xmlns:a16="http://schemas.microsoft.com/office/drawing/2014/main" id="{57591CF0-7554-4A7E-9313-C76216F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05  表の比較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1965466-4337-4D2F-BF5E-B0961EB0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列の役割に合わせて幅と強調位置を変える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691F9DC2-444A-4FD4-8F31-65680F56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332D"/>
            </a:solidFill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3068C-3C65-4635-A55B-D9CFC10F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5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E0DFA6CC-D1AB-4DA3-93D8-D756CDFE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E193761-782E-463B-B9F3-38D57A6C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7" name="p5-before-label">
            <a:extLst xmlns:a="http://schemas.openxmlformats.org/drawingml/2006/main">
              <a:ext uri="{FF2B5EF4-FFF2-40B4-BE49-F238E27FC236}">
                <a16:creationId xmlns:a16="http://schemas.microsoft.com/office/drawing/2014/main" id="{96F58248-005C-4678-9490-8568DF8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編集前</a:t>
            </a:r>
          </a:p>
        </p:txBody>
      </p:sp>
      <p:sp>
        <p:nvSpPr>
          <p:cNvPr id="8" name="p5-before-box">
            <a:extLst xmlns:a="http://schemas.openxmlformats.org/drawingml/2006/main">
              <a:ext uri="{FF2B5EF4-FFF2-40B4-BE49-F238E27FC236}">
                <a16:creationId xmlns:a16="http://schemas.microsoft.com/office/drawing/2014/main" id="{05572CA4-4A45-4C0C-8E5B-9DFC5080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768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876300" y="2628900"/>
          <a:ext xmlns:a="http://schemas.openxmlformats.org/drawingml/2006/main" cx="44958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1123950"/>
                <a:gridCol w="1123950"/>
                <a:gridCol w="1123950"/>
              </a:tblGrid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DAY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確認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完了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確認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担当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完了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担当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完了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担当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105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完了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5-before-note">
            <a:extLst xmlns:a="http://schemas.openxmlformats.org/drawingml/2006/main">
              <a:ext uri="{FF2B5EF4-FFF2-40B4-BE49-F238E27FC236}">
                <a16:creationId xmlns:a16="http://schemas.microsoft.com/office/drawing/2014/main" id="{74CEDE37-AFCF-4B26-BE65-4F8D9D3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9B4A3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B4A39"/>
                </a:solidFill>
                <a:latin typeface="Hiragino Sans"/>
                <a:ea typeface="Hiragino Sans"/>
                <a:cs typeface="Hiragino Sans"/>
              </a:rPr>
              <a:t>全列が同じ幅で、内容の差が見えにくい</a:t>
            </a:r>
          </a:p>
        </p:txBody>
      </p:sp>
      <p:sp>
        <p:nvSpPr>
          <p:cNvPr id="11" name="p5-after-label">
            <a:extLst xmlns:a="http://schemas.openxmlformats.org/drawingml/2006/main">
              <a:ext uri="{FF2B5EF4-FFF2-40B4-BE49-F238E27FC236}">
                <a16:creationId xmlns:a16="http://schemas.microsoft.com/office/drawing/2014/main" id="{A849310B-4341-4FD4-B44B-D47B80B6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編集後</a:t>
            </a:r>
          </a:p>
        </p:txBody>
      </p:sp>
      <p:sp>
        <p:nvSpPr>
          <p:cNvPr id="12" name="p5-after-box">
            <a:extLst xmlns:a="http://schemas.openxmlformats.org/drawingml/2006/main">
              <a:ext uri="{FF2B5EF4-FFF2-40B4-BE49-F238E27FC236}">
                <a16:creationId xmlns:a16="http://schemas.microsoft.com/office/drawing/2014/main" id="{2A6F6D6E-F63D-4050-A83C-FC463CA5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781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362700" y="2628900"/>
          <a:ext xmlns:a="http://schemas.openxmlformats.org/drawingml/2006/main" cx="443865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2000250"/>
                <a:gridCol w="990600"/>
                <a:gridCol w="762000"/>
              </a:tblGrid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日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やること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相談先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完了</a:t>
                      </a:r>
                    </a:p>
                  </a:txBody>
                  <a:tcPr marL="91440" marR="91440" marT="45720" marB="45720" anchor="ctr">
                    <a:solidFill>
                      <a:srgbClr val="1F332D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l"/>
                      <a:r>
                        <a:rPr sz="975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アカウントへログイン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リード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EF1EE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l"/>
                      <a:r>
                        <a:rPr sz="975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表示名と画像を確認</a:t>
                      </a:r>
                    </a:p>
                  </a:txBody>
                  <a:tcPr marL="91440" marR="91440" marT="45720" marB="45720" anchor="ctr">
                    <a:solidFill>
                      <a:srgbClr val="EEF1EE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リード</a:t>
                      </a:r>
                    </a:p>
                  </a:txBody>
                  <a:tcPr marL="91440" marR="91440" marT="45720" marB="45720" anchor="ctr">
                    <a:solidFill>
                      <a:srgbClr val="EEF1EE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済</a:t>
                      </a:r>
                    </a:p>
                  </a:txBody>
                  <a:tcPr marL="91440" marR="91440" marT="45720" marB="45720" anchor="ctr">
                    <a:solidFill>
                      <a:srgbClr val="EEF1EE"/>
                    </a:solidFill>
                  </a:tcPr>
                </a:tc>
              </a:tr>
              <a:tr h="509588"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l"/>
                      <a:r>
                        <a:rPr sz="975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研修資料を開く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0">
                          <a:solidFill>
                            <a:srgbClr val="1F33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担当者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/>
                    <a:lstStyle/>
                    <a:p>
                      <a:pPr algn="ctr"/>
                      <a:r>
                        <a:rPr sz="900" b="1">
                          <a:solidFill>
                            <a:srgbClr val="3C725C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p5-after-note">
            <a:extLst xmlns:a="http://schemas.openxmlformats.org/drawingml/2006/main">
              <a:ext uri="{FF2B5EF4-FFF2-40B4-BE49-F238E27FC236}">
                <a16:creationId xmlns:a16="http://schemas.microsoft.com/office/drawing/2014/main" id="{B7CF518A-727C-4842-ACED-51B7853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内容列を広くし、完了欄を最小限にする</a:t>
            </a:r>
          </a:p>
        </p:txBody>
      </p:sp>
      <p:sp>
        <p:nvSpPr>
          <p:cNvPr id="15" name="p5-native-note">
            <a:extLst xmlns:a="http://schemas.openxmlformats.org/drawingml/2006/main">
              <a:ext uri="{FF2B5EF4-FFF2-40B4-BE49-F238E27FC236}">
                <a16:creationId xmlns:a16="http://schemas.microsoft.com/office/drawing/2014/main" id="{41293462-3983-4DFD-A314-3BB7963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比較表はネイティブ表で再構築し、行・列・文言をPowerPoint上で編集できます。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926759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label-6">
            <a:extLst xmlns:a="http://schemas.openxmlformats.org/drawingml/2006/main">
              <a:ext uri="{FF2B5EF4-FFF2-40B4-BE49-F238E27FC236}">
                <a16:creationId xmlns:a16="http://schemas.microsoft.com/office/drawing/2014/main" id="{000CEA3F-F72D-4B1D-8E5A-3DBE75C1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06  納品確認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670C6E7-7FC8-45C2-8EDF-6F69120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編集用PPTXと確認用PDFを分けて確認する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9A3385FB-5EFE-42D4-AA55-42686FF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332D"/>
            </a:solidFill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2DD5640-406A-43FA-9570-89DBFEB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5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18921902-C975-4CF1-89AB-DE93BBF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PowerPoint原稿の整形 / 自主制作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842CDE5-B104-43F8-BEA3-6F21326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7" name="p6-check-title">
            <a:extLst xmlns:a="http://schemas.openxmlformats.org/drawingml/2006/main">
              <a:ext uri="{FF2B5EF4-FFF2-40B4-BE49-F238E27FC236}">
                <a16:creationId xmlns:a16="http://schemas.microsoft.com/office/drawing/2014/main" id="{3D709910-F2C5-400F-A77C-506612B5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確認した項目</a:t>
            </a:r>
          </a:p>
        </p:txBody>
      </p:sp>
      <p:sp>
        <p:nvSpPr>
          <p:cNvPr id="8" name="p6-check-mark-0">
            <a:extLst xmlns:a="http://schemas.openxmlformats.org/drawingml/2006/main">
              <a:ext uri="{FF2B5EF4-FFF2-40B4-BE49-F238E27FC236}">
                <a16:creationId xmlns:a16="http://schemas.microsoft.com/office/drawing/2014/main" id="{D94D3059-AB83-4FC2-967B-0C6AE37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6-check-label-0">
            <a:extLst xmlns:a="http://schemas.openxmlformats.org/drawingml/2006/main">
              <a:ext uri="{FF2B5EF4-FFF2-40B4-BE49-F238E27FC236}">
                <a16:creationId xmlns:a16="http://schemas.microsoft.com/office/drawing/2014/main" id="{E0FF4E9A-F74B-4ADC-9A91-3F5B2C1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文字</a:t>
            </a:r>
          </a:p>
        </p:txBody>
      </p:sp>
      <p:sp>
        <p:nvSpPr>
          <p:cNvPr id="10" name="p6-check-value-0">
            <a:extLst xmlns:a="http://schemas.openxmlformats.org/drawingml/2006/main">
              <a:ext uri="{FF2B5EF4-FFF2-40B4-BE49-F238E27FC236}">
                <a16:creationId xmlns:a16="http://schemas.microsoft.com/office/drawing/2014/main" id="{AB2AEAC4-5671-46A4-ABC1-3A13A2A1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生成PNGで枠外・欠落がないことを確認</a:t>
            </a:r>
          </a:p>
        </p:txBody>
      </p:sp>
      <p:sp>
        <p:nvSpPr>
          <p:cNvPr id="11" name="p6-check-rule-0">
            <a:extLst xmlns:a="http://schemas.openxmlformats.org/drawingml/2006/main">
              <a:ext uri="{FF2B5EF4-FFF2-40B4-BE49-F238E27FC236}">
                <a16:creationId xmlns:a16="http://schemas.microsoft.com/office/drawing/2014/main" id="{6EA27879-CAD0-414B-9EA0-C63B172B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2" name="p6-check-mark-1">
            <a:extLst xmlns:a="http://schemas.openxmlformats.org/drawingml/2006/main">
              <a:ext uri="{FF2B5EF4-FFF2-40B4-BE49-F238E27FC236}">
                <a16:creationId xmlns:a16="http://schemas.microsoft.com/office/drawing/2014/main" id="{9256563F-3869-4B6C-9006-30C2C255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6-check-label-1">
            <a:extLst xmlns:a="http://schemas.openxmlformats.org/drawingml/2006/main">
              <a:ext uri="{FF2B5EF4-FFF2-40B4-BE49-F238E27FC236}">
                <a16:creationId xmlns:a16="http://schemas.microsoft.com/office/drawing/2014/main" id="{1A611505-63F5-44E9-8025-57D9DED5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表</a:t>
            </a:r>
          </a:p>
        </p:txBody>
      </p:sp>
      <p:sp>
        <p:nvSpPr>
          <p:cNvPr id="14" name="p6-check-value-1">
            <a:extLst xmlns:a="http://schemas.openxmlformats.org/drawingml/2006/main">
              <a:ext uri="{FF2B5EF4-FFF2-40B4-BE49-F238E27FC236}">
                <a16:creationId xmlns:a16="http://schemas.microsoft.com/office/drawing/2014/main" id="{17AB11F2-AF6F-49D3-9791-028BB01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19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2つの比較表をネイティブ表として実装</a:t>
            </a:r>
          </a:p>
        </p:txBody>
      </p:sp>
      <p:sp>
        <p:nvSpPr>
          <p:cNvPr id="15" name="p6-check-rule-1">
            <a:extLst xmlns:a="http://schemas.openxmlformats.org/drawingml/2006/main">
              <a:ext uri="{FF2B5EF4-FFF2-40B4-BE49-F238E27FC236}">
                <a16:creationId xmlns:a16="http://schemas.microsoft.com/office/drawing/2014/main" id="{212DFA1B-C708-4632-8951-D2953E44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16" name="p6-check-mark-2">
            <a:extLst xmlns:a="http://schemas.openxmlformats.org/drawingml/2006/main">
              <a:ext uri="{FF2B5EF4-FFF2-40B4-BE49-F238E27FC236}">
                <a16:creationId xmlns:a16="http://schemas.microsoft.com/office/drawing/2014/main" id="{9D0E512D-9704-4DE9-9179-5565DD38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6-check-label-2">
            <a:extLst xmlns:a="http://schemas.openxmlformats.org/drawingml/2006/main">
              <a:ext uri="{FF2B5EF4-FFF2-40B4-BE49-F238E27FC236}">
                <a16:creationId xmlns:a16="http://schemas.microsoft.com/office/drawing/2014/main" id="{5A430412-ECAC-4916-99E7-6DAEA58E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フォント</a:t>
            </a:r>
          </a:p>
        </p:txBody>
      </p:sp>
      <p:sp>
        <p:nvSpPr>
          <p:cNvPr id="18" name="p6-check-value-2">
            <a:extLst xmlns:a="http://schemas.openxmlformats.org/drawingml/2006/main">
              <a:ext uri="{FF2B5EF4-FFF2-40B4-BE49-F238E27FC236}">
                <a16:creationId xmlns:a16="http://schemas.microsoft.com/office/drawing/2014/main" id="{1EF7E620-110A-46AD-8CE7-914725E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67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macOSで確認。Windows PowerPointは未確認</a:t>
            </a:r>
          </a:p>
        </p:txBody>
      </p:sp>
      <p:sp>
        <p:nvSpPr>
          <p:cNvPr id="19" name="p6-check-rule-2">
            <a:extLst xmlns:a="http://schemas.openxmlformats.org/drawingml/2006/main">
              <a:ext uri="{FF2B5EF4-FFF2-40B4-BE49-F238E27FC236}">
                <a16:creationId xmlns:a16="http://schemas.microsoft.com/office/drawing/2014/main" id="{CF9734A8-F4CF-4318-B47A-EACA4AB2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0" name="p6-check-mark-3">
            <a:extLst xmlns:a="http://schemas.openxmlformats.org/drawingml/2006/main">
              <a:ext uri="{FF2B5EF4-FFF2-40B4-BE49-F238E27FC236}">
                <a16:creationId xmlns:a16="http://schemas.microsoft.com/office/drawing/2014/main" id="{B75A6EC3-F928-49BC-A328-440B2DD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6-check-label-3">
            <a:extLst xmlns:a="http://schemas.openxmlformats.org/drawingml/2006/main">
              <a:ext uri="{FF2B5EF4-FFF2-40B4-BE49-F238E27FC236}">
                <a16:creationId xmlns:a16="http://schemas.microsoft.com/office/drawing/2014/main" id="{62E6BC48-969E-4BA9-8B41-F4F0924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PDF</a:t>
            </a:r>
          </a:p>
        </p:txBody>
      </p:sp>
      <p:sp>
        <p:nvSpPr>
          <p:cNvPr id="22" name="p6-check-value-3">
            <a:extLst xmlns:a="http://schemas.openxmlformats.org/drawingml/2006/main">
              <a:ext uri="{FF2B5EF4-FFF2-40B4-BE49-F238E27FC236}">
                <a16:creationId xmlns:a16="http://schemas.microsoft.com/office/drawing/2014/main" id="{C7A2C2FC-1917-44CC-8C10-B23AF445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確認済みPNGから6ページの表示用PDFを生成</a:t>
            </a:r>
          </a:p>
        </p:txBody>
      </p:sp>
      <p:sp>
        <p:nvSpPr>
          <p:cNvPr id="23" name="p6-files">
            <a:extLst xmlns:a="http://schemas.openxmlformats.org/drawingml/2006/main">
              <a:ext uri="{FF2B5EF4-FFF2-40B4-BE49-F238E27FC236}">
                <a16:creationId xmlns:a16="http://schemas.microsoft.com/office/drawing/2014/main" id="{A2232CC2-58F9-488F-A332-2F43F314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3962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4" name="p6-files-title">
            <a:extLst xmlns:a="http://schemas.openxmlformats.org/drawingml/2006/main">
              <a:ext uri="{FF2B5EF4-FFF2-40B4-BE49-F238E27FC236}">
                <a16:creationId xmlns:a16="http://schemas.microsoft.com/office/drawing/2014/main" id="{CF2A2467-8113-4217-AF55-44295C2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8E520E"/>
                </a:solidFill>
                <a:latin typeface="Hiragino Sans"/>
                <a:ea typeface="Hiragino Sans"/>
                <a:cs typeface="Hiragino Sans"/>
              </a:rPr>
              <a:t>確認できる成果物</a:t>
            </a:r>
          </a:p>
        </p:txBody>
      </p:sp>
      <p:sp>
        <p:nvSpPr>
          <p:cNvPr id="25" name="p6-file-type-0">
            <a:extLst xmlns:a="http://schemas.openxmlformats.org/drawingml/2006/main">
              <a:ext uri="{FF2B5EF4-FFF2-40B4-BE49-F238E27FC236}">
                <a16:creationId xmlns:a16="http://schemas.microsoft.com/office/drawing/2014/main" id="{A3C158E0-9CF4-49EF-9817-9AD0C3A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PPTX</a:t>
            </a:r>
          </a:p>
        </p:txBody>
      </p:sp>
      <p:sp>
        <p:nvSpPr>
          <p:cNvPr id="26" name="p6-file-value-0">
            <a:extLst xmlns:a="http://schemas.openxmlformats.org/drawingml/2006/main">
              <a:ext uri="{FF2B5EF4-FFF2-40B4-BE49-F238E27FC236}">
                <a16:creationId xmlns:a16="http://schemas.microsoft.com/office/drawing/2014/main" id="{3B9BC56E-D557-4133-B59D-F1F11F1F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編集用の元データ</a:t>
            </a:r>
          </a:p>
        </p:txBody>
      </p:sp>
      <p:sp>
        <p:nvSpPr>
          <p:cNvPr id="27" name="p6-file-rule-0">
            <a:extLst xmlns:a="http://schemas.openxmlformats.org/drawingml/2006/main">
              <a:ext uri="{FF2B5EF4-FFF2-40B4-BE49-F238E27FC236}">
                <a16:creationId xmlns:a16="http://schemas.microsoft.com/office/drawing/2014/main" id="{FCA8110E-4380-4196-8D6C-9447405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CD"/>
            </a:solidFill>
            <a:prstDash val="solid"/>
          </a:ln>
        </p:spPr>
      </p:sp>
      <p:sp>
        <p:nvSpPr>
          <p:cNvPr id="28" name="p6-file-type-1">
            <a:extLst xmlns:a="http://schemas.openxmlformats.org/drawingml/2006/main">
              <a:ext uri="{FF2B5EF4-FFF2-40B4-BE49-F238E27FC236}">
                <a16:creationId xmlns:a16="http://schemas.microsoft.com/office/drawing/2014/main" id="{52B3C572-42AA-4BA7-923F-E79D75E8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C725C"/>
                </a:solidFill>
                <a:latin typeface="Hiragino Sans"/>
                <a:ea typeface="Hiragino Sans"/>
                <a:cs typeface="Hiragino Sans"/>
              </a:rPr>
              <a:t>PDF</a:t>
            </a:r>
          </a:p>
        </p:txBody>
      </p:sp>
      <p:sp>
        <p:nvSpPr>
          <p:cNvPr id="29" name="p6-file-value-1">
            <a:extLst xmlns:a="http://schemas.openxmlformats.org/drawingml/2006/main">
              <a:ext uri="{FF2B5EF4-FFF2-40B4-BE49-F238E27FC236}">
                <a16:creationId xmlns:a16="http://schemas.microsoft.com/office/drawing/2014/main" id="{CA77F464-D00B-4659-AD37-1023F8BB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F332D"/>
                </a:solidFill>
                <a:latin typeface="Hiragino Sans"/>
                <a:ea typeface="Hiragino Sans"/>
                <a:cs typeface="Hiragino Sans"/>
              </a:rPr>
              <a:t>画像ベースの表示確認用</a:t>
            </a:r>
          </a:p>
        </p:txBody>
      </p:sp>
      <p:sp>
        <p:nvSpPr>
          <p:cNvPr id="30" name="p6-disclosure">
            <a:extLst xmlns:a="http://schemas.openxmlformats.org/drawingml/2006/main">
              <a:ext uri="{FF2B5EF4-FFF2-40B4-BE49-F238E27FC236}">
                <a16:creationId xmlns:a16="http://schemas.microsoft.com/office/drawing/2014/main" id="{E437385D-F701-4917-8C2A-2E86645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0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5736D"/>
                </a:solidFill>
                <a:latin typeface="Hiragino Sans"/>
                <a:ea typeface="Hiragino Sans"/>
                <a:cs typeface="Hiragino Sans"/>
              </a:rPr>
              <a:t>想定テンプレートと原稿は本作品用に作成。実在PPTXのマスター保持やWindows PowerPoint表示は、この作品では示していません。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1598336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PowerPoint-compatible PPTX exporter</Application>
  <PresentationFormat>Converted Presentation</PresentationFormat>
  <Slides>0</Slides>
  <Notes>0</Notes>
  <HiddenSlides>0</HiddenSlides>
  <SharedDoc>false</SharedDoc>
  <DocSecurity>0</DocSecurity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Portfolio sample</dc:creator>
  <cp:lastModifiedBy>Portfolio sample</cp:lastModifiedBy>
  <dc:title>PowerPoint原稿の整形 Before / After</dc:title>
  <dcterms:created xsi:type="dcterms:W3CDTF">2026-08-12T02:52:19.7190000Z</dcterms:created>
  <dcterms:modified xsi:type="dcterms:W3CDTF">2026-08-12T02:52:19.7190000Z</dcterms:modified>
  <dc:subject>想定テンプレートと原稿を用いた自主制作サンプル</dc:subject>
  <cp:category>Portfolio sample</cp:category>
  <cp:keywords>自主制作,PowerPoint,原稿整理,Before After,ポートフォリオ</cp:keywords>
  <dc:description>想定素材によるPowerPoint原稿の整形前後を示す自主制作ポートフォリオ。顧客案件・実績ではありません。</dc:description>
</cp:coreProperties>
</file>